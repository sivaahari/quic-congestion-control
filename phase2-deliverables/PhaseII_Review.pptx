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286000"/>
            <a:ext cx="10607040" cy="2194560"/>
          </a:xfrm>
          <a:prstGeom prst="rect">
            <a:avLst/>
          </a:prstGeom>
          <a:noFill/>
        </p:spPr>
        <p:txBody>
          <a:bodyPr wrap="square">
            <a:spAutoFit/>
          </a:bodyPr>
          <a:lstStyle/>
          <a:p>
            <a:pPr algn="l">
              <a:spcAft>
                <a:spcPts val="200"/>
              </a:spcAft>
            </a:pPr>
            <a:r>
              <a:rPr sz="3100" b="1">
                <a:solidFill>
                  <a:srgbClr val="1A1A1A"/>
                </a:solidFill>
              </a:rPr>
              <a:t>What five QUIC implementations actually do</a:t>
            </a:r>
          </a:p>
          <a:p>
            <a:pPr algn="l">
              <a:spcAft>
                <a:spcPts val="1600"/>
              </a:spcAft>
            </a:pPr>
            <a:r>
              <a:rPr sz="3100" b="1">
                <a:solidFill>
                  <a:srgbClr val="1A1A1A"/>
                </a:solidFill>
              </a:rPr>
              <a:t>when your phone changes network</a:t>
            </a:r>
          </a:p>
          <a:p>
            <a:pPr algn="l">
              <a:spcAft>
                <a:spcPts val="1000"/>
              </a:spcAft>
            </a:pPr>
            <a:r>
              <a:rPr sz="1700" b="0">
                <a:solidFill>
                  <a:srgbClr val="6A6A6A"/>
                </a:solidFill>
              </a:rPr>
              <a:t>Phase 2 review — the cross-implementation survey</a:t>
            </a:r>
          </a:p>
        </p:txBody>
      </p:sp>
      <p:sp>
        <p:nvSpPr>
          <p:cNvPr id="3" name="TextBox 2"/>
          <p:cNvSpPr txBox="1"/>
          <p:nvPr/>
        </p:nvSpPr>
        <p:spPr>
          <a:xfrm>
            <a:off x="822960" y="5120640"/>
            <a:ext cx="10607040" cy="914400"/>
          </a:xfrm>
          <a:prstGeom prst="rect">
            <a:avLst/>
          </a:prstGeom>
          <a:noFill/>
        </p:spPr>
        <p:txBody>
          <a:bodyPr wrap="square">
            <a:spAutoFit/>
          </a:bodyPr>
          <a:lstStyle/>
          <a:p>
            <a:pPr algn="l">
              <a:spcAft>
                <a:spcPts val="1000"/>
              </a:spcAft>
            </a:pPr>
            <a:r>
              <a:rPr sz="1300" b="0">
                <a:solidFill>
                  <a:srgbClr val="6A6A6A"/>
                </a:solidFill>
              </a:rPr>
              <a:t>Capstone research · Computer Networks</a:t>
            </a:r>
          </a:p>
          <a:p>
            <a:pPr algn="l">
              <a:spcAft>
                <a:spcPts val="1000"/>
              </a:spcAft>
            </a:pPr>
            <a:r>
              <a:rPr sz="1300" b="0">
                <a:solidFill>
                  <a:srgbClr val="6A6A6A"/>
                </a:solidFill>
              </a:rPr>
              <a:t>sivaahari · cb.sc.u4cys24055@cb.students.amrita.edu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972800" cy="329184"/>
          </a:xfrm>
          <a:prstGeom prst="rect">
            <a:avLst/>
          </a:prstGeom>
          <a:noFill/>
        </p:spPr>
        <p:txBody>
          <a:bodyPr wrap="square">
            <a:spAutoFit/>
          </a:bodyPr>
          <a:lstStyle/>
          <a:p>
            <a:pPr algn="l">
              <a:spcAft>
                <a:spcPts val="1000"/>
              </a:spcAft>
            </a:pPr>
            <a:r>
              <a:rPr sz="1250" b="1">
                <a:solidFill>
                  <a:srgbClr val="4C72B0"/>
                </a:solidFill>
              </a:rPr>
              <a:t>WHERE WE LEFT OFF</a:t>
            </a:r>
          </a:p>
        </p:txBody>
      </p:sp>
      <p:sp>
        <p:nvSpPr>
          <p:cNvPr id="3" name="TextBox 2"/>
          <p:cNvSpPr txBox="1"/>
          <p:nvPr/>
        </p:nvSpPr>
        <p:spPr>
          <a:xfrm>
            <a:off x="685800" y="713232"/>
            <a:ext cx="10972800" cy="960120"/>
          </a:xfrm>
          <a:prstGeom prst="rect">
            <a:avLst/>
          </a:prstGeom>
          <a:noFill/>
        </p:spPr>
        <p:txBody>
          <a:bodyPr wrap="square">
            <a:spAutoFit/>
          </a:bodyPr>
          <a:lstStyle/>
          <a:p>
            <a:pPr algn="l">
              <a:spcAft>
                <a:spcPts val="1000"/>
              </a:spcAft>
            </a:pPr>
            <a:r>
              <a:rPr sz="2600" b="1">
                <a:solidFill>
                  <a:srgbClr val="1A1A1A"/>
                </a:solidFill>
              </a:rPr>
              <a:t>Last phase we found one implementation ignoring a rule it must follow.</a:t>
            </a:r>
          </a:p>
        </p:txBody>
      </p:sp>
      <p:sp>
        <p:nvSpPr>
          <p:cNvPr id="4" name="TextBox 3"/>
          <p:cNvSpPr txBox="1"/>
          <p:nvPr/>
        </p:nvSpPr>
        <p:spPr>
          <a:xfrm>
            <a:off x="777240" y="2011680"/>
            <a:ext cx="10789920" cy="3840480"/>
          </a:xfrm>
          <a:prstGeom prst="rect">
            <a:avLst/>
          </a:prstGeom>
          <a:noFill/>
        </p:spPr>
        <p:txBody>
          <a:bodyPr wrap="square">
            <a:spAutoFit/>
          </a:bodyPr>
          <a:lstStyle/>
          <a:p>
            <a:pPr algn="l">
              <a:spcAft>
                <a:spcPts val="1800"/>
              </a:spcAft>
            </a:pPr>
            <a:r>
              <a:rPr sz="1900" b="0">
                <a:solidFill>
                  <a:srgbClr val="1A1A1A"/>
                </a:solidFill>
              </a:rPr>
              <a:t>The standard says an endpoint MUST reset its speed estimate when a connection moves to a new network. Forget what you learned about the old one; start over.</a:t>
            </a:r>
          </a:p>
          <a:p>
            <a:pPr algn="l">
              <a:spcAft>
                <a:spcPts val="1800"/>
              </a:spcAft>
            </a:pPr>
            <a:r>
              <a:rPr sz="1900" b="0">
                <a:solidFill>
                  <a:srgbClr val="1A1A1A"/>
                </a:solidFill>
              </a:rPr>
              <a:t>We checked picoquic. It doesn't. The function that performs the reset exists, is implemented for all seven of its congestion-control algorithms, and is called by nothing.</a:t>
            </a:r>
          </a:p>
          <a:p>
            <a:pPr algn="l">
              <a:spcAft>
                <a:spcPts val="1800"/>
              </a:spcAft>
            </a:pPr>
            <a:r>
              <a:rPr sz="1900" b="0">
                <a:solidFill>
                  <a:srgbClr val="1A1A1A"/>
                </a:solidFill>
              </a:rPr>
              <a:t>Then we implemented the rule ourselves — and transfers stopped completing entirely, because the rule has a second half that is easy to miss.</a:t>
            </a:r>
          </a:p>
          <a:p>
            <a:pPr algn="l">
              <a:spcAft>
                <a:spcPts val="1000"/>
              </a:spcAft>
            </a:pPr>
            <a:r>
              <a:rPr sz="1900" b="1">
                <a:solidFill>
                  <a:srgbClr val="4C72B0"/>
                </a:solidFill>
              </a:rPr>
              <a:t>Which left an obvious question.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972800" cy="329184"/>
          </a:xfrm>
          <a:prstGeom prst="rect">
            <a:avLst/>
          </a:prstGeom>
          <a:noFill/>
        </p:spPr>
        <p:txBody>
          <a:bodyPr wrap="square">
            <a:spAutoFit/>
          </a:bodyPr>
          <a:lstStyle/>
          <a:p>
            <a:pPr algn="l">
              <a:spcAft>
                <a:spcPts val="1000"/>
              </a:spcAft>
            </a:pPr>
            <a:r>
              <a:rPr sz="1250" b="1">
                <a:solidFill>
                  <a:srgbClr val="4C72B0"/>
                </a:solidFill>
              </a:rPr>
              <a:t>THE QUESTION</a:t>
            </a:r>
          </a:p>
        </p:txBody>
      </p:sp>
      <p:sp>
        <p:nvSpPr>
          <p:cNvPr id="3" name="TextBox 2"/>
          <p:cNvSpPr txBox="1"/>
          <p:nvPr/>
        </p:nvSpPr>
        <p:spPr>
          <a:xfrm>
            <a:off x="685800" y="713232"/>
            <a:ext cx="10972800" cy="960120"/>
          </a:xfrm>
          <a:prstGeom prst="rect">
            <a:avLst/>
          </a:prstGeom>
          <a:noFill/>
        </p:spPr>
        <p:txBody>
          <a:bodyPr wrap="square">
            <a:spAutoFit/>
          </a:bodyPr>
          <a:lstStyle/>
          <a:p>
            <a:pPr algn="l">
              <a:spcAft>
                <a:spcPts val="1000"/>
              </a:spcAft>
            </a:pPr>
            <a:r>
              <a:rPr sz="2600" b="1">
                <a:solidFill>
                  <a:srgbClr val="1A1A1A"/>
                </a:solidFill>
              </a:rPr>
              <a:t>Does anyone else get this right?</a:t>
            </a:r>
          </a:p>
        </p:txBody>
      </p:sp>
      <p:sp>
        <p:nvSpPr>
          <p:cNvPr id="4" name="TextBox 3"/>
          <p:cNvSpPr txBox="1"/>
          <p:nvPr/>
        </p:nvSpPr>
        <p:spPr>
          <a:xfrm>
            <a:off x="777240" y="2011680"/>
            <a:ext cx="10789920" cy="3840480"/>
          </a:xfrm>
          <a:prstGeom prst="rect">
            <a:avLst/>
          </a:prstGeom>
          <a:noFill/>
        </p:spPr>
        <p:txBody>
          <a:bodyPr wrap="square">
            <a:spAutoFit/>
          </a:bodyPr>
          <a:lstStyle/>
          <a:p>
            <a:pPr algn="l">
              <a:spcAft>
                <a:spcPts val="2200"/>
              </a:spcAft>
            </a:pPr>
            <a:r>
              <a:rPr sz="1900" b="0">
                <a:solidFill>
                  <a:srgbClr val="1A1A1A"/>
                </a:solidFill>
              </a:rPr>
              <a:t>We took the five QUIC implementations that carry most of the internet's traffic, in three different languages, and asked each of them the same three questions.</a:t>
            </a:r>
          </a:p>
          <a:p>
            <a:pPr algn="l" marL="365760" indent="-365760">
              <a:spcAft>
                <a:spcPts val="400"/>
              </a:spcAft>
              <a:buFont typeface="Calibri"/>
              <a:buAutoNum type="arabicPeriod"/>
            </a:pPr>
            <a:r>
              <a:rPr sz="1800" b="1">
                <a:solidFill>
                  <a:srgbClr val="1A1A1A"/>
                </a:solidFill>
              </a:rPr>
              <a:t>Resets congestion control on migration?</a:t>
            </a:r>
          </a:p>
          <a:p>
            <a:pPr algn="l" marL="365760" indent="0">
              <a:spcAft>
                <a:spcPts val="1400"/>
              </a:spcAft>
              <a:buNone/>
            </a:pPr>
            <a:r>
              <a:rPr sz="1400" b="0">
                <a:solidFill>
                  <a:srgbClr val="6A6A6A"/>
                </a:solidFill>
              </a:rPr>
              <a:t>MUST — RFC 9000 §9.4 (2nd paragraph)</a:t>
            </a:r>
          </a:p>
          <a:p>
            <a:pPr algn="l" marL="365760" indent="-365760">
              <a:spcAft>
                <a:spcPts val="400"/>
              </a:spcAft>
              <a:buFont typeface="Calibri"/>
              <a:buAutoNum type="arabicPeriod"/>
            </a:pPr>
            <a:r>
              <a:rPr sz="1800" b="1">
                <a:solidFill>
                  <a:srgbClr val="1A1A1A"/>
                </a:solidFill>
              </a:rPr>
              <a:t>Uses path-validation RTT as the new path's initial RTT?</a:t>
            </a:r>
          </a:p>
          <a:p>
            <a:pPr algn="l" marL="365760" indent="0">
              <a:spcAft>
                <a:spcPts val="1400"/>
              </a:spcAft>
              <a:buNone/>
            </a:pPr>
            <a:r>
              <a:rPr sz="1400" b="0">
                <a:solidFill>
                  <a:srgbClr val="6A6A6A"/>
                </a:solidFill>
              </a:rPr>
              <a:t>MAY — RFC 9002 §6.2.2</a:t>
            </a:r>
          </a:p>
          <a:p>
            <a:pPr algn="l" marL="365760" indent="-365760">
              <a:spcAft>
                <a:spcPts val="400"/>
              </a:spcAft>
              <a:buFont typeface="Calibri"/>
              <a:buAutoNum type="arabicPeriod"/>
            </a:pPr>
            <a:r>
              <a:rPr sz="1800" b="1">
                <a:solidFill>
                  <a:srgbClr val="1A1A1A"/>
                </a:solidFill>
              </a:rPr>
              <a:t>Excludes old-path ACKs from new-path state?</a:t>
            </a:r>
          </a:p>
          <a:p>
            <a:pPr algn="l" marL="365760" indent="0">
              <a:spcAft>
                <a:spcPts val="1400"/>
              </a:spcAft>
              <a:buNone/>
            </a:pPr>
            <a:r>
              <a:rPr sz="1400" b="0">
                <a:solidFill>
                  <a:srgbClr val="6A6A6A"/>
                </a:solidFill>
              </a:rPr>
              <a:t>MUST — RFC 9000 §9.4 (1st paragraph)</a:t>
            </a:r>
          </a:p>
          <a:p>
            <a:pPr algn="l">
              <a:spcAft>
                <a:spcPts val="1000"/>
              </a:spcAft>
            </a:pPr>
            <a:r>
              <a:rPr sz="1700" b="1">
                <a:solidFill>
                  <a:srgbClr val="4C72B0"/>
                </a:solidFill>
              </a:rPr>
              <a:t>Every answer twice: once by reading the source, once by measuring the running program. If they disagreed, we had made a mistake and went to find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972800" cy="329184"/>
          </a:xfrm>
          <a:prstGeom prst="rect">
            <a:avLst/>
          </a:prstGeom>
          <a:noFill/>
        </p:spPr>
        <p:txBody>
          <a:bodyPr wrap="square">
            <a:spAutoFit/>
          </a:bodyPr>
          <a:lstStyle/>
          <a:p>
            <a:pPr algn="l">
              <a:spcAft>
                <a:spcPts val="1000"/>
              </a:spcAft>
            </a:pPr>
            <a:r>
              <a:rPr sz="1250" b="1">
                <a:solidFill>
                  <a:srgbClr val="4C72B0"/>
                </a:solidFill>
              </a:rPr>
              <a:t>THE RESULT</a:t>
            </a:r>
          </a:p>
        </p:txBody>
      </p:sp>
      <p:sp>
        <p:nvSpPr>
          <p:cNvPr id="3" name="TextBox 2"/>
          <p:cNvSpPr txBox="1"/>
          <p:nvPr/>
        </p:nvSpPr>
        <p:spPr>
          <a:xfrm>
            <a:off x="685800" y="713232"/>
            <a:ext cx="10972800" cy="960120"/>
          </a:xfrm>
          <a:prstGeom prst="rect">
            <a:avLst/>
          </a:prstGeom>
          <a:noFill/>
        </p:spPr>
        <p:txBody>
          <a:bodyPr wrap="square">
            <a:spAutoFit/>
          </a:bodyPr>
          <a:lstStyle/>
          <a:p>
            <a:pPr algn="l">
              <a:spcAft>
                <a:spcPts val="1000"/>
              </a:spcAft>
            </a:pPr>
            <a:r>
              <a:rPr sz="2600" b="1">
                <a:solidFill>
                  <a:srgbClr val="1A1A1A"/>
                </a:solidFill>
              </a:rPr>
              <a:t>No two of them behave the same way.</a:t>
            </a:r>
          </a:p>
        </p:txBody>
      </p:sp>
      <p:pic>
        <p:nvPicPr>
          <p:cNvPr id="4" name="Picture 3" descr="p2_fig1_compliance_table.png"/>
          <p:cNvPicPr>
            <a:picLocks noChangeAspect="1"/>
          </p:cNvPicPr>
          <p:nvPr/>
        </p:nvPicPr>
        <p:blipFill>
          <a:blip r:embed="rId2"/>
          <a:stretch>
            <a:fillRect/>
          </a:stretch>
        </p:blipFill>
        <p:spPr>
          <a:xfrm>
            <a:off x="1497901" y="1737360"/>
            <a:ext cx="9165716" cy="4443983"/>
          </a:xfrm>
          <a:prstGeom prst="rect">
            <a:avLst/>
          </a:prstGeom>
        </p:spPr>
      </p:pic>
      <p:sp>
        <p:nvSpPr>
          <p:cNvPr id="5" name="TextBox 4"/>
          <p:cNvSpPr txBox="1"/>
          <p:nvPr/>
        </p:nvSpPr>
        <p:spPr>
          <a:xfrm>
            <a:off x="685800" y="6291072"/>
            <a:ext cx="10972800" cy="411480"/>
          </a:xfrm>
          <a:prstGeom prst="rect">
            <a:avLst/>
          </a:prstGeom>
          <a:noFill/>
        </p:spPr>
        <p:txBody>
          <a:bodyPr wrap="square">
            <a:spAutoFit/>
          </a:bodyPr>
          <a:lstStyle/>
          <a:p>
            <a:pPr algn="l">
              <a:spcAft>
                <a:spcPts val="1000"/>
              </a:spcAft>
            </a:pPr>
            <a:r>
              <a:rPr sz="1050" b="0">
                <a:solidFill>
                  <a:srgbClr val="6A6A6A"/>
                </a:solidFill>
              </a:rPr>
              <a:t>5 implementations audited from source; 5 of them also measured live in our testbed. Every cell is backed by both.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972800" cy="329184"/>
          </a:xfrm>
          <a:prstGeom prst="rect">
            <a:avLst/>
          </a:prstGeom>
          <a:noFill/>
        </p:spPr>
        <p:txBody>
          <a:bodyPr wrap="square">
            <a:spAutoFit/>
          </a:bodyPr>
          <a:lstStyle/>
          <a:p>
            <a:pPr algn="l">
              <a:spcAft>
                <a:spcPts val="1000"/>
              </a:spcAft>
            </a:pPr>
            <a:r>
              <a:rPr sz="1250" b="1">
                <a:solidFill>
                  <a:srgbClr val="4C72B0"/>
                </a:solidFill>
              </a:rPr>
              <a:t>FINDING 1</a:t>
            </a:r>
          </a:p>
        </p:txBody>
      </p:sp>
      <p:sp>
        <p:nvSpPr>
          <p:cNvPr id="3" name="TextBox 2"/>
          <p:cNvSpPr txBox="1"/>
          <p:nvPr/>
        </p:nvSpPr>
        <p:spPr>
          <a:xfrm>
            <a:off x="685800" y="713232"/>
            <a:ext cx="10972800" cy="960120"/>
          </a:xfrm>
          <a:prstGeom prst="rect">
            <a:avLst/>
          </a:prstGeom>
          <a:noFill/>
        </p:spPr>
        <p:txBody>
          <a:bodyPr wrap="square">
            <a:spAutoFit/>
          </a:bodyPr>
          <a:lstStyle/>
          <a:p>
            <a:pPr algn="l">
              <a:spcAft>
                <a:spcPts val="1000"/>
              </a:spcAft>
            </a:pPr>
            <a:r>
              <a:rPr sz="2600" b="1">
                <a:solidFill>
                  <a:srgbClr val="1A1A1A"/>
                </a:solidFill>
              </a:rPr>
              <a:t>Two of them ship the code to obey the rule — and never call it.</a:t>
            </a:r>
          </a:p>
        </p:txBody>
      </p:sp>
      <p:pic>
        <p:nvPicPr>
          <p:cNvPr id="4" name="Picture 3" descr="p2_fig2_dead_hooks.png"/>
          <p:cNvPicPr>
            <a:picLocks noChangeAspect="1"/>
          </p:cNvPicPr>
          <p:nvPr/>
        </p:nvPicPr>
        <p:blipFill>
          <a:blip r:embed="rId2"/>
          <a:stretch>
            <a:fillRect/>
          </a:stretch>
        </p:blipFill>
        <p:spPr>
          <a:xfrm>
            <a:off x="914400" y="1932002"/>
            <a:ext cx="10332720" cy="4100418"/>
          </a:xfrm>
          <a:prstGeom prst="rect">
            <a:avLst/>
          </a:prstGeom>
        </p:spPr>
      </p:pic>
      <p:sp>
        <p:nvSpPr>
          <p:cNvPr id="5" name="TextBox 4"/>
          <p:cNvSpPr txBox="1"/>
          <p:nvPr/>
        </p:nvSpPr>
        <p:spPr>
          <a:xfrm>
            <a:off x="685800" y="6291072"/>
            <a:ext cx="10972800" cy="411480"/>
          </a:xfrm>
          <a:prstGeom prst="rect">
            <a:avLst/>
          </a:prstGeom>
          <a:noFill/>
        </p:spPr>
        <p:txBody>
          <a:bodyPr wrap="square">
            <a:spAutoFit/>
          </a:bodyPr>
          <a:lstStyle/>
          <a:p>
            <a:pPr algn="l">
              <a:spcAft>
                <a:spcPts val="1000"/>
              </a:spcAft>
            </a:pPr>
            <a:r>
              <a:rPr sz="1050" b="0">
                <a:solidFill>
                  <a:srgbClr val="6A6A6A"/>
                </a:solidFill>
              </a:rPr>
              <a:t>quiche's dead function even carries the comment “Called when connection migrates and cwnd needs to be reset”. Independent codebases, different languages, the same dead hook.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972800" cy="329184"/>
          </a:xfrm>
          <a:prstGeom prst="rect">
            <a:avLst/>
          </a:prstGeom>
          <a:noFill/>
        </p:spPr>
        <p:txBody>
          <a:bodyPr wrap="square">
            <a:spAutoFit/>
          </a:bodyPr>
          <a:lstStyle/>
          <a:p>
            <a:pPr algn="l">
              <a:spcAft>
                <a:spcPts val="1000"/>
              </a:spcAft>
            </a:pPr>
            <a:r>
              <a:rPr sz="1250" b="1">
                <a:solidFill>
                  <a:srgbClr val="4C72B0"/>
                </a:solidFill>
              </a:rPr>
              <a:t>FINDING 2</a:t>
            </a:r>
          </a:p>
        </p:txBody>
      </p:sp>
      <p:sp>
        <p:nvSpPr>
          <p:cNvPr id="3" name="TextBox 2"/>
          <p:cNvSpPr txBox="1"/>
          <p:nvPr/>
        </p:nvSpPr>
        <p:spPr>
          <a:xfrm>
            <a:off x="685800" y="713232"/>
            <a:ext cx="10972800" cy="960120"/>
          </a:xfrm>
          <a:prstGeom prst="rect">
            <a:avLst/>
          </a:prstGeom>
          <a:noFill/>
        </p:spPr>
        <p:txBody>
          <a:bodyPr wrap="square">
            <a:spAutoFit/>
          </a:bodyPr>
          <a:lstStyle/>
          <a:p>
            <a:pPr algn="l">
              <a:spcAft>
                <a:spcPts val="1000"/>
              </a:spcAft>
            </a:pPr>
            <a:r>
              <a:rPr sz="2600" b="1">
                <a:solidFill>
                  <a:srgbClr val="1A1A1A"/>
                </a:solidFill>
              </a:rPr>
              <a:t>Where they do comply, they get there five different ways.</a:t>
            </a:r>
          </a:p>
        </p:txBody>
      </p:sp>
      <p:pic>
        <p:nvPicPr>
          <p:cNvPr id="4" name="Picture 3" descr="p2_fig3_mechanisms.png"/>
          <p:cNvPicPr>
            <a:picLocks noChangeAspect="1"/>
          </p:cNvPicPr>
          <p:nvPr/>
        </p:nvPicPr>
        <p:blipFill>
          <a:blip r:embed="rId2"/>
          <a:stretch>
            <a:fillRect/>
          </a:stretch>
        </p:blipFill>
        <p:spPr>
          <a:xfrm>
            <a:off x="548640" y="2099725"/>
            <a:ext cx="11064240" cy="3764972"/>
          </a:xfrm>
          <a:prstGeom prst="rect">
            <a:avLst/>
          </a:prstGeom>
        </p:spPr>
      </p:pic>
      <p:sp>
        <p:nvSpPr>
          <p:cNvPr id="5" name="TextBox 4"/>
          <p:cNvSpPr txBox="1"/>
          <p:nvPr/>
        </p:nvSpPr>
        <p:spPr>
          <a:xfrm>
            <a:off x="685800" y="6291072"/>
            <a:ext cx="10972800" cy="411480"/>
          </a:xfrm>
          <a:prstGeom prst="rect">
            <a:avLst/>
          </a:prstGeom>
          <a:noFill/>
        </p:spPr>
        <p:txBody>
          <a:bodyPr wrap="square">
            <a:spAutoFit/>
          </a:bodyPr>
          <a:lstStyle/>
          <a:p>
            <a:pPr algn="l">
              <a:spcAft>
                <a:spcPts val="1000"/>
              </a:spcAft>
            </a:pPr>
            <a:r>
              <a:rPr sz="1050" b="0">
                <a:solidFill>
                  <a:srgbClr val="6A6A6A"/>
                </a:solidFill>
              </a:rPr>
              <a:t>One replaces its controller outright. One is compliant by accident of architecture. One uses a packet-number watermark. One resets at only one end. One doesn't reset at 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972800" cy="329184"/>
          </a:xfrm>
          <a:prstGeom prst="rect">
            <a:avLst/>
          </a:prstGeom>
          <a:noFill/>
        </p:spPr>
        <p:txBody>
          <a:bodyPr wrap="square">
            <a:spAutoFit/>
          </a:bodyPr>
          <a:lstStyle/>
          <a:p>
            <a:pPr algn="l">
              <a:spcAft>
                <a:spcPts val="1000"/>
              </a:spcAft>
            </a:pPr>
            <a:r>
              <a:rPr sz="1250" b="1">
                <a:solidFill>
                  <a:srgbClr val="4C72B0"/>
                </a:solidFill>
              </a:rPr>
              <a:t>FINDING 3</a:t>
            </a:r>
          </a:p>
        </p:txBody>
      </p:sp>
      <p:sp>
        <p:nvSpPr>
          <p:cNvPr id="3" name="TextBox 2"/>
          <p:cNvSpPr txBox="1"/>
          <p:nvPr/>
        </p:nvSpPr>
        <p:spPr>
          <a:xfrm>
            <a:off x="685800" y="713232"/>
            <a:ext cx="10972800" cy="960120"/>
          </a:xfrm>
          <a:prstGeom prst="rect">
            <a:avLst/>
          </a:prstGeom>
          <a:noFill/>
        </p:spPr>
        <p:txBody>
          <a:bodyPr wrap="square">
            <a:spAutoFit/>
          </a:bodyPr>
          <a:lstStyle/>
          <a:p>
            <a:pPr algn="l">
              <a:spcAft>
                <a:spcPts val="1000"/>
              </a:spcAft>
            </a:pPr>
            <a:r>
              <a:rPr sz="2600" b="1">
                <a:solidFill>
                  <a:srgbClr val="1A1A1A"/>
                </a:solidFill>
              </a:rPr>
              <a:t>Not one of them uses the free measurement the protocol already takes.</a:t>
            </a:r>
          </a:p>
        </p:txBody>
      </p:sp>
      <p:sp>
        <p:nvSpPr>
          <p:cNvPr id="4" name="TextBox 3"/>
          <p:cNvSpPr txBox="1"/>
          <p:nvPr/>
        </p:nvSpPr>
        <p:spPr>
          <a:xfrm>
            <a:off x="777240" y="2011680"/>
            <a:ext cx="10789920" cy="3931920"/>
          </a:xfrm>
          <a:prstGeom prst="rect">
            <a:avLst/>
          </a:prstGeom>
          <a:noFill/>
        </p:spPr>
        <p:txBody>
          <a:bodyPr wrap="square">
            <a:spAutoFit/>
          </a:bodyPr>
          <a:lstStyle/>
          <a:p>
            <a:pPr algn="l">
              <a:spcAft>
                <a:spcPts val="2000"/>
              </a:spcAft>
            </a:pPr>
            <a:r>
              <a:rPr sz="1900" b="0">
                <a:solidFill>
                  <a:srgbClr val="1A1A1A"/>
                </a:solidFill>
              </a:rPr>
              <a:t>Before a connection trusts a new network it must run a security check — send a random number, require it echoed back. That is a compulsory round trip on the new network, so it measures that network's speed for free.</a:t>
            </a:r>
          </a:p>
          <a:p>
            <a:pPr algn="l">
              <a:spcAft>
                <a:spcPts val="2000"/>
              </a:spcAft>
            </a:pPr>
            <a:r>
              <a:rPr sz="2000" b="1">
                <a:solidFill>
                  <a:srgbClr val="C44E52"/>
                </a:solidFill>
              </a:rPr>
              <a:t>The standard explicitly permits using it. All five decline.</a:t>
            </a:r>
          </a:p>
          <a:p>
            <a:pPr algn="l">
              <a:spcAft>
                <a:spcPts val="1800"/>
              </a:spcAft>
            </a:pPr>
            <a:r>
              <a:rPr sz="1800" b="0">
                <a:solidFill>
                  <a:srgbClr val="1A1A1A"/>
                </a:solidFill>
              </a:rPr>
              <a:t>Two of them we caught in the act, in consecutive log lines: measure the new network at roughly 40 milliseconds, then throw it away and seed a fixed default instead — 100 milliseconds in one, 333 in the other.</a:t>
            </a:r>
          </a:p>
          <a:p>
            <a:pPr algn="l">
              <a:spcAft>
                <a:spcPts val="1000"/>
              </a:spcAft>
            </a:pPr>
            <a:r>
              <a:rPr sz="1800" b="1">
                <a:solidFill>
                  <a:srgbClr val="4C72B0"/>
                </a:solidFill>
              </a:rPr>
              <a:t>This is the one finding that is unanimous across every major implementation.</a:t>
            </a:r>
          </a:p>
        </p:txBody>
      </p:sp>
      <p:sp>
        <p:nvSpPr>
          <p:cNvPr id="5" name="TextBox 4"/>
          <p:cNvSpPr txBox="1"/>
          <p:nvPr/>
        </p:nvSpPr>
        <p:spPr>
          <a:xfrm>
            <a:off x="685800" y="6291072"/>
            <a:ext cx="10972800" cy="411480"/>
          </a:xfrm>
          <a:prstGeom prst="rect">
            <a:avLst/>
          </a:prstGeom>
          <a:noFill/>
        </p:spPr>
        <p:txBody>
          <a:bodyPr wrap="square">
            <a:spAutoFit/>
          </a:bodyPr>
          <a:lstStyle/>
          <a:p>
            <a:pPr algn="l">
              <a:spcAft>
                <a:spcPts val="1000"/>
              </a:spcAft>
            </a:pPr>
            <a:r>
              <a:rPr sz="1050" b="0">
                <a:solidFill>
                  <a:srgbClr val="6A6A6A"/>
                </a:solidFill>
              </a:rPr>
              <a:t>RFC 9002 §6.2.2 — a MAY, not a MUST. Nobody is breaking a rule here. But nobody is taking the free measurement either.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972800" cy="329184"/>
          </a:xfrm>
          <a:prstGeom prst="rect">
            <a:avLst/>
          </a:prstGeom>
          <a:noFill/>
        </p:spPr>
        <p:txBody>
          <a:bodyPr wrap="square">
            <a:spAutoFit/>
          </a:bodyPr>
          <a:lstStyle/>
          <a:p>
            <a:pPr algn="l">
              <a:spcAft>
                <a:spcPts val="1000"/>
              </a:spcAft>
            </a:pPr>
            <a:r>
              <a:rPr sz="1250" b="1">
                <a:solidFill>
                  <a:srgbClr val="4C72B0"/>
                </a:solidFill>
              </a:rPr>
              <a:t>FINDING 4</a:t>
            </a:r>
          </a:p>
        </p:txBody>
      </p:sp>
      <p:sp>
        <p:nvSpPr>
          <p:cNvPr id="3" name="TextBox 2"/>
          <p:cNvSpPr txBox="1"/>
          <p:nvPr/>
        </p:nvSpPr>
        <p:spPr>
          <a:xfrm>
            <a:off x="685800" y="713232"/>
            <a:ext cx="10972800" cy="960120"/>
          </a:xfrm>
          <a:prstGeom prst="rect">
            <a:avLst/>
          </a:prstGeom>
          <a:noFill/>
        </p:spPr>
        <p:txBody>
          <a:bodyPr wrap="square">
            <a:spAutoFit/>
          </a:bodyPr>
          <a:lstStyle/>
          <a:p>
            <a:pPr algn="l">
              <a:spcAft>
                <a:spcPts val="1000"/>
              </a:spcAft>
            </a:pPr>
            <a:r>
              <a:rPr sz="2600" b="1">
                <a:solidFill>
                  <a:srgbClr val="1A1A1A"/>
                </a:solidFill>
              </a:rPr>
              <a:t>One of them cannot be scored yes or no at all.</a:t>
            </a:r>
          </a:p>
        </p:txBody>
      </p:sp>
      <p:sp>
        <p:nvSpPr>
          <p:cNvPr id="4" name="TextBox 3"/>
          <p:cNvSpPr txBox="1"/>
          <p:nvPr/>
        </p:nvSpPr>
        <p:spPr>
          <a:xfrm>
            <a:off x="777240" y="2011680"/>
            <a:ext cx="10789920" cy="3931920"/>
          </a:xfrm>
          <a:prstGeom prst="rect">
            <a:avLst/>
          </a:prstGeom>
          <a:noFill/>
        </p:spPr>
        <p:txBody>
          <a:bodyPr wrap="square">
            <a:spAutoFit/>
          </a:bodyPr>
          <a:lstStyle/>
          <a:p>
            <a:pPr algn="l">
              <a:spcAft>
                <a:spcPts val="2000"/>
              </a:spcAft>
            </a:pPr>
            <a:r>
              <a:rPr sz="1900" b="0">
                <a:solidFill>
                  <a:srgbClr val="1A1A1A"/>
                </a:solidFill>
              </a:rPr>
              <a:t>msquic splits its state: congestion control is shared across the whole connection, but round-trip time is tracked per network path. That produces two answers no yes/no column can hold.</a:t>
            </a:r>
          </a:p>
          <a:p>
            <a:pPr algn="l">
              <a:spcAft>
                <a:spcPts val="1800"/>
              </a:spcAft>
            </a:pPr>
            <a:r>
              <a:rPr sz="1800" b="1">
                <a:solidFill>
                  <a:srgbClr val="B8942E"/>
                </a:solidFill>
              </a:rPr>
              <a:t>On the first question the answer is ASYMMETRIC. The endpoint that OBSERVES the move resets. The endpoint that MAKES the move does not. The same connection is compliant at one end and not at the other.</a:t>
            </a:r>
          </a:p>
          <a:p>
            <a:pPr algn="l">
              <a:spcAft>
                <a:spcPts val="2000"/>
              </a:spcAft>
            </a:pPr>
            <a:r>
              <a:rPr sz="1800" b="1">
                <a:solidFill>
                  <a:srgbClr val="B8942E"/>
                </a:solidFill>
              </a:rPr>
              <a:t>On the third the answer is SPLIT. Round-trip measurements from the old network are correctly ignored. Acknowledged byte counts are not.</a:t>
            </a:r>
          </a:p>
          <a:p>
            <a:pPr algn="l">
              <a:spcAft>
                <a:spcPts val="800"/>
              </a:spcAft>
            </a:pPr>
            <a:r>
              <a:rPr sz="1700" b="0">
                <a:solidFill>
                  <a:srgbClr val="1A1A1A"/>
                </a:solidFill>
              </a:rPr>
              <a:t>We are not the first to notice the second one. msquic's own source says, at the exact line responsible:</a:t>
            </a:r>
          </a:p>
          <a:p>
            <a:pPr algn="l" marL="411480" indent="0">
              <a:spcAft>
                <a:spcPts val="1000"/>
              </a:spcAft>
              <a:buNone/>
            </a:pPr>
            <a:r>
              <a:rPr sz="1500" b="1">
                <a:solidFill>
                  <a:srgbClr val="C44E52"/>
                </a:solidFill>
              </a:rPr>
              <a:t>const QUIC_PATH* Path = &amp;Connection-&gt;Paths[0];  // TODO - Correct?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972800" cy="329184"/>
          </a:xfrm>
          <a:prstGeom prst="rect">
            <a:avLst/>
          </a:prstGeom>
          <a:noFill/>
        </p:spPr>
        <p:txBody>
          <a:bodyPr wrap="square">
            <a:spAutoFit/>
          </a:bodyPr>
          <a:lstStyle/>
          <a:p>
            <a:pPr algn="l">
              <a:spcAft>
                <a:spcPts val="1000"/>
              </a:spcAft>
            </a:pPr>
            <a:r>
              <a:rPr sz="1250" b="1">
                <a:solidFill>
                  <a:srgbClr val="4C72B0"/>
                </a:solidFill>
              </a:rPr>
              <a:t>FINDING 5</a:t>
            </a:r>
          </a:p>
        </p:txBody>
      </p:sp>
      <p:sp>
        <p:nvSpPr>
          <p:cNvPr id="3" name="TextBox 2"/>
          <p:cNvSpPr txBox="1"/>
          <p:nvPr/>
        </p:nvSpPr>
        <p:spPr>
          <a:xfrm>
            <a:off x="685800" y="713232"/>
            <a:ext cx="10972800" cy="960120"/>
          </a:xfrm>
          <a:prstGeom prst="rect">
            <a:avLst/>
          </a:prstGeom>
          <a:noFill/>
        </p:spPr>
        <p:txBody>
          <a:bodyPr wrap="square">
            <a:spAutoFit/>
          </a:bodyPr>
          <a:lstStyle/>
          <a:p>
            <a:pPr algn="l">
              <a:spcAft>
                <a:spcPts val="1000"/>
              </a:spcAft>
            </a:pPr>
            <a:r>
              <a:rPr sz="2600" b="1">
                <a:solidFill>
                  <a:srgbClr val="1A1A1A"/>
                </a:solidFill>
              </a:rPr>
              <a:t>And in that implementation, the sender never recovers its sense of the new network.</a:t>
            </a:r>
          </a:p>
        </p:txBody>
      </p:sp>
      <p:sp>
        <p:nvSpPr>
          <p:cNvPr id="4" name="TextBox 3"/>
          <p:cNvSpPr txBox="1"/>
          <p:nvPr/>
        </p:nvSpPr>
        <p:spPr>
          <a:xfrm>
            <a:off x="777240" y="2011680"/>
            <a:ext cx="10789920" cy="3931920"/>
          </a:xfrm>
          <a:prstGeom prst="rect">
            <a:avLst/>
          </a:prstGeom>
          <a:noFill/>
        </p:spPr>
        <p:txBody>
          <a:bodyPr wrap="square">
            <a:spAutoFit/>
          </a:bodyPr>
          <a:lstStyle/>
          <a:p>
            <a:pPr algn="l">
              <a:spcAft>
                <a:spcPts val="1800"/>
              </a:spcAft>
            </a:pPr>
            <a:r>
              <a:rPr sz="1900" b="0">
                <a:solidFill>
                  <a:srgbClr val="1A1A1A"/>
                </a:solidFill>
              </a:rPr>
              <a:t>After migrating, msquic's server holds its round-trip estimate at exactly its starting default — 333 milliseconds — and its minimum-RTT field at the “no measurement yet” marker.</a:t>
            </a:r>
          </a:p>
          <a:p>
            <a:pPr algn="l">
              <a:spcAft>
                <a:spcPts val="1800"/>
              </a:spcAft>
            </a:pPr>
            <a:r>
              <a:rPr sz="1900" b="1">
                <a:solidFill>
                  <a:srgbClr val="C44E52"/>
                </a:solidFill>
              </a:rPr>
              <a:t>For every one of roughly 3,800 samples per run. For twenty seconds. In five runs out of five. The real network delay was 40 milliseconds.</a:t>
            </a:r>
          </a:p>
          <a:p>
            <a:pPr algn="l">
              <a:spcAft>
                <a:spcPts val="1800"/>
              </a:spcAft>
            </a:pPr>
            <a:r>
              <a:rPr sz="1800" b="0">
                <a:solidFill>
                  <a:srgbClr val="1A1A1A"/>
                </a:solidFill>
              </a:rPr>
              <a:t>The cost is visible: about 13 Mbit/s where another implementation reached about 19 on the same link.</a:t>
            </a:r>
          </a:p>
          <a:p>
            <a:pPr algn="l">
              <a:spcAft>
                <a:spcPts val="1000"/>
              </a:spcAft>
            </a:pPr>
            <a:r>
              <a:rPr sz="1800" b="1">
                <a:solidFill>
                  <a:srgbClr val="4C72B0"/>
                </a:solidFill>
              </a:rPr>
              <a:t>The irony is the finding. The endpoint that follows the rule ends up with a permanently broken estimate; the endpoint that ignores it keeps a working one.</a:t>
            </a:r>
          </a:p>
        </p:txBody>
      </p:sp>
      <p:sp>
        <p:nvSpPr>
          <p:cNvPr id="5" name="TextBox 4"/>
          <p:cNvSpPr txBox="1"/>
          <p:nvPr/>
        </p:nvSpPr>
        <p:spPr>
          <a:xfrm>
            <a:off x="685800" y="6291072"/>
            <a:ext cx="10972800" cy="411480"/>
          </a:xfrm>
          <a:prstGeom prst="rect">
            <a:avLst/>
          </a:prstGeom>
          <a:noFill/>
        </p:spPr>
        <p:txBody>
          <a:bodyPr wrap="square">
            <a:spAutoFit/>
          </a:bodyPr>
          <a:lstStyle/>
          <a:p>
            <a:pPr algn="l">
              <a:spcAft>
                <a:spcPts val="1000"/>
              </a:spcAft>
            </a:pPr>
            <a:r>
              <a:rPr sz="1050" b="0">
                <a:solidFill>
                  <a:srgbClr val="6A6A6A"/>
                </a:solidFill>
              </a:rPr>
              <a:t>Reported as an observation, not a diagnosis. We have not yet built an instrumented version to prove the mechanism, and we say so.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972800" cy="329184"/>
          </a:xfrm>
          <a:prstGeom prst="rect">
            <a:avLst/>
          </a:prstGeom>
          <a:noFill/>
        </p:spPr>
        <p:txBody>
          <a:bodyPr wrap="square">
            <a:spAutoFit/>
          </a:bodyPr>
          <a:lstStyle/>
          <a:p>
            <a:pPr algn="l">
              <a:spcAft>
                <a:spcPts val="1000"/>
              </a:spcAft>
            </a:pPr>
            <a:r>
              <a:rPr sz="1250" b="1">
                <a:solidFill>
                  <a:srgbClr val="4C72B0"/>
                </a:solidFill>
              </a:rPr>
              <a:t>THE EVIDENCE</a:t>
            </a:r>
          </a:p>
        </p:txBody>
      </p:sp>
      <p:sp>
        <p:nvSpPr>
          <p:cNvPr id="3" name="TextBox 2"/>
          <p:cNvSpPr txBox="1"/>
          <p:nvPr/>
        </p:nvSpPr>
        <p:spPr>
          <a:xfrm>
            <a:off x="685800" y="713232"/>
            <a:ext cx="10972800" cy="960120"/>
          </a:xfrm>
          <a:prstGeom prst="rect">
            <a:avLst/>
          </a:prstGeom>
          <a:noFill/>
        </p:spPr>
        <p:txBody>
          <a:bodyPr wrap="square">
            <a:spAutoFit/>
          </a:bodyPr>
          <a:lstStyle/>
          <a:p>
            <a:pPr algn="l">
              <a:spcAft>
                <a:spcPts val="1000"/>
              </a:spcAft>
            </a:pPr>
            <a:r>
              <a:rPr sz="2600" b="1">
                <a:solidFill>
                  <a:srgbClr val="1A1A1A"/>
                </a:solidFill>
              </a:rPr>
              <a:t>What the measurements actually look like.</a:t>
            </a:r>
          </a:p>
        </p:txBody>
      </p:sp>
      <p:pic>
        <p:nvPicPr>
          <p:cNvPr id="4" name="Picture 3" descr="p2_fig4_cwnd_evidence.png"/>
          <p:cNvPicPr>
            <a:picLocks noChangeAspect="1"/>
          </p:cNvPicPr>
          <p:nvPr/>
        </p:nvPicPr>
        <p:blipFill>
          <a:blip r:embed="rId2"/>
          <a:stretch>
            <a:fillRect/>
          </a:stretch>
        </p:blipFill>
        <p:spPr>
          <a:xfrm>
            <a:off x="1641687" y="1783080"/>
            <a:ext cx="8878145" cy="4398264"/>
          </a:xfrm>
          <a:prstGeom prst="rect">
            <a:avLst/>
          </a:prstGeom>
        </p:spPr>
      </p:pic>
      <p:sp>
        <p:nvSpPr>
          <p:cNvPr id="5" name="TextBox 4"/>
          <p:cNvSpPr txBox="1"/>
          <p:nvPr/>
        </p:nvSpPr>
        <p:spPr>
          <a:xfrm>
            <a:off x="685800" y="6291072"/>
            <a:ext cx="10972800" cy="411480"/>
          </a:xfrm>
          <a:prstGeom prst="rect">
            <a:avLst/>
          </a:prstGeom>
          <a:noFill/>
        </p:spPr>
        <p:txBody>
          <a:bodyPr wrap="square">
            <a:spAutoFit/>
          </a:bodyPr>
          <a:lstStyle/>
          <a:p>
            <a:pPr algn="l">
              <a:spcAft>
                <a:spcPts val="1000"/>
              </a:spcAft>
            </a:pPr>
            <a:r>
              <a:rPr sz="1050" b="0">
                <a:solidFill>
                  <a:srgbClr val="6A6A6A"/>
                </a:solidFill>
              </a:rPr>
              <a:t>Each implementation's own initial window is the dashed line. A drop to exactly that value can only be a reset — we checked each one's loss arithmetic to be sure an ordinary loss event could not produce the same number.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972800" cy="329184"/>
          </a:xfrm>
          <a:prstGeom prst="rect">
            <a:avLst/>
          </a:prstGeom>
          <a:noFill/>
        </p:spPr>
        <p:txBody>
          <a:bodyPr wrap="square">
            <a:spAutoFit/>
          </a:bodyPr>
          <a:lstStyle/>
          <a:p>
            <a:pPr algn="l">
              <a:spcAft>
                <a:spcPts val="1000"/>
              </a:spcAft>
            </a:pPr>
            <a:r>
              <a:rPr sz="1250" b="1">
                <a:solidFill>
                  <a:srgbClr val="4C72B0"/>
                </a:solidFill>
              </a:rPr>
              <a:t>METHOD</a:t>
            </a:r>
          </a:p>
        </p:txBody>
      </p:sp>
      <p:sp>
        <p:nvSpPr>
          <p:cNvPr id="3" name="TextBox 2"/>
          <p:cNvSpPr txBox="1"/>
          <p:nvPr/>
        </p:nvSpPr>
        <p:spPr>
          <a:xfrm>
            <a:off x="685800" y="713232"/>
            <a:ext cx="10972800" cy="960120"/>
          </a:xfrm>
          <a:prstGeom prst="rect">
            <a:avLst/>
          </a:prstGeom>
          <a:noFill/>
        </p:spPr>
        <p:txBody>
          <a:bodyPr wrap="square">
            <a:spAutoFit/>
          </a:bodyPr>
          <a:lstStyle/>
          <a:p>
            <a:pPr algn="l">
              <a:spcAft>
                <a:spcPts val="1000"/>
              </a:spcAft>
            </a:pPr>
            <a:r>
              <a:rPr sz="2600" b="1">
                <a:solidFill>
                  <a:srgbClr val="1A1A1A"/>
                </a:solidFill>
              </a:rPr>
              <a:t>How we know we are not fooling ourselves.</a:t>
            </a:r>
          </a:p>
        </p:txBody>
      </p:sp>
      <p:sp>
        <p:nvSpPr>
          <p:cNvPr id="4" name="TextBox 3"/>
          <p:cNvSpPr txBox="1"/>
          <p:nvPr/>
        </p:nvSpPr>
        <p:spPr>
          <a:xfrm>
            <a:off x="777240" y="1965960"/>
            <a:ext cx="10789920" cy="4023360"/>
          </a:xfrm>
          <a:prstGeom prst="rect">
            <a:avLst/>
          </a:prstGeom>
          <a:noFill/>
        </p:spPr>
        <p:txBody>
          <a:bodyPr wrap="square">
            <a:spAutoFit/>
          </a:bodyPr>
          <a:lstStyle/>
          <a:p>
            <a:pPr algn="l">
              <a:spcAft>
                <a:spcPts val="1400"/>
              </a:spcAft>
            </a:pPr>
            <a:r>
              <a:rPr sz="1800" b="0">
                <a:solidFill>
                  <a:srgbClr val="1A1A1A"/>
                </a:solidFill>
              </a:rPr>
              <a:t>Every claim was answered twice — from source and from measurement — and they had to agree.</a:t>
            </a:r>
          </a:p>
          <a:p>
            <a:pPr algn="l">
              <a:spcAft>
                <a:spcPts val="1400"/>
              </a:spcAft>
            </a:pPr>
            <a:r>
              <a:rPr sz="1700" b="0">
                <a:solidFill>
                  <a:srgbClr val="1A1A1A"/>
                </a:solidFill>
              </a:rPr>
              <a:t>Before trusting any drop in the send rate, we looked up each implementation's initial window, its loss floor, and its loss reduction factor, and confirmed the number we saw could only be a reset. In quic-go that revealed TWO events where we would have reported one — in 5/5 runs an ordinary loss backoff to exactly 0.7× the peak, then the real reset 0.44–1.96 milliseconds later.</a:t>
            </a:r>
          </a:p>
          <a:p>
            <a:pPr algn="l">
              <a:spcAft>
                <a:spcPts val="1400"/>
              </a:spcAft>
            </a:pPr>
            <a:r>
              <a:rPr sz="1700" b="0">
                <a:solidFill>
                  <a:srgbClr val="1A1A1A"/>
                </a:solidFill>
              </a:rPr>
              <a:t>Then we wrote a second validator from scratch, sharing no code with the first, which re-derives every claim from git object storage and raw traces. 30 checks, 30 pass.</a:t>
            </a:r>
          </a:p>
          <a:p>
            <a:pPr algn="l">
              <a:spcAft>
                <a:spcPts val="1000"/>
              </a:spcAft>
            </a:pPr>
            <a:r>
              <a:rPr sz="1700" b="1">
                <a:solidFill>
                  <a:srgbClr val="4C72B0"/>
                </a:solidFill>
              </a:rPr>
              <a:t>It found seven things we had got wrong along the way — a window described as flat when it had declined, a repetition count of four that was really three, a path delay recorded as sixty milliseconds that was really forty, and — the one that stings — a verdict line in our own parser that would have called a loss event a reset. All seven are corrected and recorded.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972800" cy="329184"/>
          </a:xfrm>
          <a:prstGeom prst="rect">
            <a:avLst/>
          </a:prstGeom>
          <a:noFill/>
        </p:spPr>
        <p:txBody>
          <a:bodyPr wrap="square">
            <a:spAutoFit/>
          </a:bodyPr>
          <a:lstStyle/>
          <a:p>
            <a:pPr algn="l">
              <a:spcAft>
                <a:spcPts val="1000"/>
              </a:spcAft>
            </a:pPr>
            <a:r>
              <a:rPr sz="1250" b="1">
                <a:solidFill>
                  <a:srgbClr val="4C72B0"/>
                </a:solidFill>
              </a:rPr>
              <a:t>HONESTY</a:t>
            </a:r>
          </a:p>
        </p:txBody>
      </p:sp>
      <p:sp>
        <p:nvSpPr>
          <p:cNvPr id="3" name="TextBox 2"/>
          <p:cNvSpPr txBox="1"/>
          <p:nvPr/>
        </p:nvSpPr>
        <p:spPr>
          <a:xfrm>
            <a:off x="685800" y="713232"/>
            <a:ext cx="10972800" cy="960120"/>
          </a:xfrm>
          <a:prstGeom prst="rect">
            <a:avLst/>
          </a:prstGeom>
          <a:noFill/>
        </p:spPr>
        <p:txBody>
          <a:bodyPr wrap="square">
            <a:spAutoFit/>
          </a:bodyPr>
          <a:lstStyle/>
          <a:p>
            <a:pPr algn="l">
              <a:spcAft>
                <a:spcPts val="1000"/>
              </a:spcAft>
            </a:pPr>
            <a:r>
              <a:rPr sz="2600" b="1">
                <a:solidFill>
                  <a:srgbClr val="1A1A1A"/>
                </a:solidFill>
              </a:rPr>
              <a:t>What we are deliberately not claiming.</a:t>
            </a:r>
          </a:p>
        </p:txBody>
      </p:sp>
      <p:sp>
        <p:nvSpPr>
          <p:cNvPr id="4" name="TextBox 3"/>
          <p:cNvSpPr txBox="1"/>
          <p:nvPr/>
        </p:nvSpPr>
        <p:spPr>
          <a:xfrm>
            <a:off x="777240" y="1965960"/>
            <a:ext cx="10789920" cy="4023360"/>
          </a:xfrm>
          <a:prstGeom prst="rect">
            <a:avLst/>
          </a:prstGeom>
          <a:noFill/>
        </p:spPr>
        <p:txBody>
          <a:bodyPr wrap="square">
            <a:spAutoFit/>
          </a:bodyPr>
          <a:lstStyle/>
          <a:p>
            <a:pPr algn="l" marL="274320" indent="-274320">
              <a:spcAft>
                <a:spcPts val="1400"/>
              </a:spcAft>
              <a:buFont typeface="Arial"/>
              <a:buChar char="•"/>
            </a:pPr>
            <a:r>
              <a:rPr sz="1700" b="0">
                <a:solidFill>
                  <a:srgbClr val="1A1A1A"/>
                </a:solidFill>
              </a:rPr>
              <a:t>We have not shown that any of this harms real users. We measured what implementations do, and what it costs in our testbed.</a:t>
            </a:r>
          </a:p>
          <a:p>
            <a:pPr algn="l" marL="274320" indent="-274320">
              <a:spcAft>
                <a:spcPts val="1400"/>
              </a:spcAft>
              <a:buFont typeface="Arial"/>
              <a:buChar char="•"/>
            </a:pPr>
            <a:r>
              <a:rPr sz="1700" b="0">
                <a:solidFill>
                  <a:srgbClr val="1A1A1A"/>
                </a:solidFill>
              </a:rPr>
              <a:t>Everything is emulation. No real phones, no real cellular networks.</a:t>
            </a:r>
          </a:p>
          <a:p>
            <a:pPr algn="l" marL="274320" indent="-274320">
              <a:spcAft>
                <a:spcPts val="1400"/>
              </a:spcAft>
              <a:buFont typeface="Arial"/>
              <a:buChar char="•"/>
            </a:pPr>
            <a:r>
              <a:rPr sz="1700" b="0">
                <a:solidFill>
                  <a:srgbClr val="1A1A1A"/>
                </a:solidFill>
              </a:rPr>
              <a:t>Each implementation was tested at one commit, in one configuration, in one direction of transfer.</a:t>
            </a:r>
          </a:p>
          <a:p>
            <a:pPr algn="l" marL="274320" indent="-274320">
              <a:spcAft>
                <a:spcPts val="1400"/>
              </a:spcAft>
              <a:buFont typeface="Arial"/>
              <a:buChar char="•"/>
            </a:pPr>
            <a:r>
              <a:rPr sz="1700" b="0">
                <a:solidFill>
                  <a:srgbClr val="1A1A1A"/>
                </a:solidFill>
              </a:rPr>
              <a:t>The stuck-estimate result is an observation. We have not proven its cause.</a:t>
            </a:r>
          </a:p>
          <a:p>
            <a:pPr algn="l">
              <a:spcAft>
                <a:spcPts val="1000"/>
              </a:spcAft>
            </a:pPr>
            <a:r>
              <a:rPr sz="1800" b="1">
                <a:solidFill>
                  <a:srgbClr val="4C72B0"/>
                </a:solidFill>
              </a:rPr>
              <a:t>We would rather state these than have a reviewer find them.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972800" cy="329184"/>
          </a:xfrm>
          <a:prstGeom prst="rect">
            <a:avLst/>
          </a:prstGeom>
          <a:noFill/>
        </p:spPr>
        <p:txBody>
          <a:bodyPr wrap="square">
            <a:spAutoFit/>
          </a:bodyPr>
          <a:lstStyle/>
          <a:p>
            <a:pPr algn="l">
              <a:spcAft>
                <a:spcPts val="1000"/>
              </a:spcAft>
            </a:pPr>
            <a:r>
              <a:rPr sz="1250" b="1">
                <a:solidFill>
                  <a:srgbClr val="4C72B0"/>
                </a:solidFill>
              </a:rPr>
              <a:t>NEXT</a:t>
            </a:r>
          </a:p>
        </p:txBody>
      </p:sp>
      <p:sp>
        <p:nvSpPr>
          <p:cNvPr id="3" name="TextBox 2"/>
          <p:cNvSpPr txBox="1"/>
          <p:nvPr/>
        </p:nvSpPr>
        <p:spPr>
          <a:xfrm>
            <a:off x="685800" y="713232"/>
            <a:ext cx="10972800" cy="960120"/>
          </a:xfrm>
          <a:prstGeom prst="rect">
            <a:avLst/>
          </a:prstGeom>
          <a:noFill/>
        </p:spPr>
        <p:txBody>
          <a:bodyPr wrap="square">
            <a:spAutoFit/>
          </a:bodyPr>
          <a:lstStyle/>
          <a:p>
            <a:pPr algn="l">
              <a:spcAft>
                <a:spcPts val="1000"/>
              </a:spcAft>
            </a:pPr>
            <a:r>
              <a:rPr sz="2600" b="1">
                <a:solidFill>
                  <a:srgbClr val="1A1A1A"/>
                </a:solidFill>
              </a:rPr>
              <a:t>Where this goes.</a:t>
            </a:r>
          </a:p>
        </p:txBody>
      </p:sp>
      <p:sp>
        <p:nvSpPr>
          <p:cNvPr id="4" name="TextBox 3"/>
          <p:cNvSpPr txBox="1"/>
          <p:nvPr/>
        </p:nvSpPr>
        <p:spPr>
          <a:xfrm>
            <a:off x="777240" y="1965960"/>
            <a:ext cx="10789920" cy="4023360"/>
          </a:xfrm>
          <a:prstGeom prst="rect">
            <a:avLst/>
          </a:prstGeom>
          <a:noFill/>
        </p:spPr>
        <p:txBody>
          <a:bodyPr wrap="square">
            <a:spAutoFit/>
          </a:bodyPr>
          <a:lstStyle/>
          <a:p>
            <a:pPr algn="l">
              <a:spcAft>
                <a:spcPts val="1800"/>
              </a:spcAft>
            </a:pPr>
            <a:r>
              <a:rPr sz="1900" b="0">
                <a:solidFill>
                  <a:srgbClr val="1A1A1A"/>
                </a:solidFill>
              </a:rPr>
              <a:t>The survey is complete: five implementations, three questions, source and measurement for every cell.</a:t>
            </a:r>
          </a:p>
          <a:p>
            <a:pPr algn="l">
              <a:spcAft>
                <a:spcPts val="1800"/>
              </a:spcAft>
            </a:pPr>
            <a:r>
              <a:rPr sz="1800" b="0">
                <a:solidFill>
                  <a:srgbClr val="1A1A1A"/>
                </a:solidFill>
              </a:rPr>
              <a:t>Next is the cost — how much each of these behaviours actually loses, across a range of network conditions rather than the single pair we used here.</a:t>
            </a:r>
          </a:p>
          <a:p>
            <a:pPr algn="l">
              <a:spcAft>
                <a:spcPts val="2000"/>
              </a:spcAft>
            </a:pPr>
            <a:r>
              <a:rPr sz="1800" b="0">
                <a:solidFill>
                  <a:srgbClr val="1A1A1A"/>
                </a:solidFill>
              </a:rPr>
              <a:t>Then the paper. And the findings go back to the projects: two of them ship a reset that never runs, and one has a comment in its own source asking whether the line we identified is correct.</a:t>
            </a:r>
          </a:p>
          <a:p>
            <a:pPr algn="l">
              <a:spcAft>
                <a:spcPts val="1000"/>
              </a:spcAft>
            </a:pPr>
            <a:r>
              <a:rPr sz="2000" b="1">
                <a:solidFill>
                  <a:srgbClr val="4C72B0"/>
                </a:solidFill>
              </a:rPr>
              <a:t>Nobody had measured this. Now it is measured.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