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A1A1A"/>
                </a:solidFill>
              </a:rPr>
              <a:t>Turning QUIC's Path Validation into a</a:t>
            </a:r>
          </a:p>
          <a:p>
            <a:pPr algn="l">
              <a:spcAft>
                <a:spcPts val="800"/>
              </a:spcAft>
            </a:pPr>
            <a:r>
              <a:rPr sz="3000" b="1">
                <a:solidFill>
                  <a:srgbClr val="1A1A1A"/>
                </a:solidFill>
              </a:rPr>
              <a:t>Congestion-Control Measurement Primitive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5A5A5A"/>
                </a:solidFill>
              </a:rPr>
              <a:t>Phase 1 review — establishing that the gap is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A5A5A"/>
                </a:solidFill>
              </a:rPr>
              <a:t>Capstone research project · Computer Networks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A5A5A"/>
                </a:solidFill>
              </a:rPr>
              <a:t>sivaahari · cb.sc.u4cys24055@cb.students.amrita.edu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C72B0"/>
                </a:solidFill>
              </a:rPr>
              <a:t>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A1A1A"/>
                </a:solidFill>
              </a:rPr>
              <a:t>The thirty-second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1A1A1A"/>
                </a:solidFill>
              </a:rPr>
              <a:t>When your phone switches from Wi-Fi to mobile data, the connection survives — QUIC identifies you by a Connection ID, not an address.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1A1A1A"/>
                </a:solidFill>
              </a:rPr>
              <a:t>But the connection still has to relearn how fast the new network is. It starts from a crawl and ramps up. You feel that as a stall.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4C72B0"/>
                </a:solidFill>
              </a:rPr>
              <a:t>It turns out the protocol already runs a compulsory speed test on the new network a moment earlier — for security reasons — and then the rulebook requires it to throw the result away.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</a:rPr>
              <a:t>Phase 1 asks one question: is that real?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55A868"/>
                </a:solidFill>
              </a:rPr>
              <a:t>Answer: yes — on paper, in deployed code, and in measurement.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C72B0"/>
                </a:solidFill>
              </a:rPr>
              <a:t>BLOCK A · THE GAP ON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A1A1A"/>
                </a:solidFill>
              </a:rPr>
              <a:t>How QUIC migration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A5A5A"/>
                </a:solidFill>
              </a:rPr>
              <a:t>The badge, and the sealed envelope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</a:rPr>
              <a:t>1.  The client changes address. It keeps its Connection ID — the badge.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</a:rPr>
              <a:t>2.  The server cannot simply trust the badge; anyone could steal one. So it sends a PATH_CHALLENGE containing random bytes, and the client must echo them back in a PATH_RESPONSE.</a:t>
            </a:r>
          </a:p>
          <a:p>
            <a:pPr algn="l">
              <a:spcAft>
                <a:spcPts val="2000"/>
              </a:spcAft>
            </a:pPr>
            <a:r>
              <a:rPr sz="1800" b="0">
                <a:solidFill>
                  <a:srgbClr val="1A1A1A"/>
                </a:solidFill>
              </a:rPr>
              <a:t>3.  Only then does the server accept the new address.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</a:rPr>
              <a:t>That exchange is compulsory, happens at every handover, and is a full round trip down the exact path about to be used.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4C72B0"/>
                </a:solidFill>
              </a:rPr>
              <a:t>RFC 9000 §8.2 additionally requires BOTH the challenge and the response datagrams to be padded to at least 1200 bytes. So it is a full-size packet, making a full round trip, on the new path — before any application data is risked.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5A5A5A"/>
                </a:solidFill>
              </a:rPr>
              <a:t>RFC 9000 §8.2.1, §8.2.2 — verified verbatim against the RFC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C72B0"/>
                </a:solidFill>
              </a:rPr>
              <a:t>BLOCK A · THE GAP ON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A1A1A"/>
                </a:solidFill>
              </a:rPr>
              <a:t>…and the rulebook requires the result to be discarded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C44E52"/>
                </a:solidFill>
              </a:rPr>
              <a:t>“On confirming a peer's ownership of its new address, an endpoint MUST immediately reset the congestion controller and round-trip time estimator for the new path to initial values … unless the only change in the peer's address is its port number.”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400" b="0">
                <a:solidFill>
                  <a:srgbClr val="5A5A5A"/>
                </a:solidFill>
              </a:rPr>
              <a:t>— RFC 9000 §9.4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</a:rPr>
              <a:t>It is a MUST, not a SHOULD. The amnesia is specified, not an oversight.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4C72B0"/>
                </a:solidFill>
              </a:rPr>
              <a:t>The normative object is the phrase “initial values”. The RFC fixes THAT the controller is reset — it does not fix what those initial values must numerically be for a path about which evidence exists.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5A5A5A"/>
                </a:solidFill>
              </a:rPr>
              <a:t>This is the seam the entire project works 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C72B0"/>
                </a:solidFill>
              </a:rPr>
              <a:t>BLOCK A · THE GAP ON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A1A1A"/>
                </a:solidFill>
              </a:rPr>
              <a:t>The state of the art refuses to help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A5A5A"/>
                </a:solidFill>
              </a:rPr>
              <a:t>Careful Resume — IETF Proposed Standard for jump-starting congestion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C44E52"/>
                </a:solidFill>
              </a:rPr>
              <a:t>“…or the sender receives a signal from the local stack indicating that the path is now different to the observed path, the sender MUST stop using Careful Resume.”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400" b="0">
                <a:solidFill>
                  <a:srgbClr val="5A5A5A"/>
                </a:solidFill>
              </a:rPr>
              <a:t>— draft-ietf-tsvwg-careful-resume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</a:rPr>
              <a:t>Careful Resume switches itself OFF the moment the path changes — which is reasonable, because it seeds from REMEMBERED state, and on a new path an old memory is a guess, not knowledge.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</a:rPr>
              <a:t>It seeds across TIME (previous connection → new connection, same path).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4C72B0"/>
                </a:solidFill>
              </a:rPr>
              <a:t>Nothing seeds across SPACE (same connection, new path).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1A1A1A"/>
                </a:solidFill>
              </a:rPr>
              <a:t>Our answer is not to remember. It is to MEASURE — using evidence the protocol is already compelled to generate.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C72B0"/>
                </a:solidFill>
              </a:rPr>
              <a:t>BLOCK B · THE GAP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A1A1A"/>
                </a:solidFill>
              </a:rPr>
              <a:t>Does deployed code actually do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A5A5A"/>
                </a:solidFill>
              </a:rPr>
              <a:t>picoquic — a widely used reference implementation, 548 tests passing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1">
                <a:solidFill>
                  <a:srgbClr val="1A1A1A"/>
                </a:solidFill>
              </a:rPr>
              <a:t>Finding: picoquic does NOT implement the §9.4 MUST-reset. Verified four independent ways: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1A1A1A"/>
                </a:solidFill>
              </a:rPr>
              <a:t>1.  The reset hook is dead. picoquic_congestion_notification_reset has handlers in newreno, cubic, bbr, bbr1, c4, fastcc and prague — and ZERO callers.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1A1A1A"/>
                </a:solidFill>
              </a:rPr>
              <a:t>2.  On path validation it updates RTT, promotes the tuple, and resets the MTU. Congestion control is never touched.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1A1A1A"/>
                </a:solidFill>
              </a:rPr>
              <a:t>3.  cwnd is re-initialised only in CC-init and picoquic_create_path — neither on the migration route. Migration creates a new tuple on the EXISTING path object, so the window survives by construction.</a:t>
            </a:r>
          </a:p>
          <a:p>
            <a:pPr algn="l">
              <a:spcAft>
                <a:spcPts val="1600"/>
              </a:spcAft>
            </a:pPr>
            <a:r>
              <a:rPr sz="1600" b="0">
                <a:solidFill>
                  <a:srgbClr val="1A1A1A"/>
                </a:solidFill>
              </a:rPr>
              <a:t>4.  Live qlog across a real IP-changing migration: cwnd flat at 241,174 bytes, never near the 15,360-byte initial window.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C44E52"/>
                </a:solidFill>
              </a:rPr>
              <a:t>So deployed reality is blind CARRY-OVER — precisely what RFC 9000 §9.4 warns “could transmit too aggressively”.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5A5A5A"/>
                </a:solidFill>
              </a:rPr>
              <a:t>picoquic 0dc8ba8b · static analysis and live measurement agree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C72B0"/>
                </a:solidFill>
              </a:rPr>
              <a:t>BLOCK B · THE GAP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A1A1A"/>
                </a:solidFill>
              </a:rPr>
              <a:t>Both behaviours, measured</a:t>
            </a:r>
          </a:p>
        </p:txBody>
      </p:sp>
      <p:pic>
        <p:nvPicPr>
          <p:cNvPr id="4" name="Picture 3" descr="fig1_reset_vs_carry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83080"/>
            <a:ext cx="9418320" cy="48975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5A5A5A"/>
                </a:solidFill>
              </a:rPr>
              <a:t>We implemented the compliant reset ourselves (runtime-gated, default off; 548/548 tests still pass with it disabled) — because the stack does not provide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C72B0"/>
                </a:solidFill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A1A1A"/>
                </a:solidFill>
              </a:rPr>
              <a:t>Validating the instrument before trusting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A5A5A"/>
                </a:solidFill>
              </a:rPr>
              <a:t>Two artefacts found that would have silently invalidated every downstream number</a:t>
            </a:r>
          </a:p>
        </p:txBody>
      </p:sp>
      <p:pic>
        <p:nvPicPr>
          <p:cNvPr id="5" name="Picture 4" descr="fig3_calibration_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0"/>
            <a:ext cx="5577840" cy="2912039"/>
          </a:xfrm>
          <a:prstGeom prst="rect">
            <a:avLst/>
          </a:prstGeom>
        </p:spPr>
      </p:pic>
      <p:pic>
        <p:nvPicPr>
          <p:cNvPr id="6" name="Picture 5" descr="fig4_train_leng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65960"/>
            <a:ext cx="5577840" cy="2912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5A5A5A"/>
                </a:solidFill>
              </a:rPr>
              <a:t>Left: a too-large token bucket lets a probe train through unshaped — you then measure the emulator, not the link. Right: short probe trains fail without leading-gap correction. Operating point: burst 3200 B, K ≥ 8, discard 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C72B0"/>
                </a:solidFill>
              </a:rPr>
              <a:t>BLOCK C/D · THE 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A1A1A"/>
                </a:solidFill>
              </a:rPr>
              <a:t>The measurement was there all along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A5A5A"/>
                </a:solidFill>
              </a:rPr>
              <a:t>Same trace. Same instant. Two numbers.</a:t>
            </a:r>
          </a:p>
        </p:txBody>
      </p:sp>
      <p:pic>
        <p:nvPicPr>
          <p:cNvPr id="5" name="Picture 4" descr="fig2_discarded_measur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3080"/>
            <a:ext cx="1133856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5A5A5A"/>
                </a:solidFill>
              </a:rPr>
              <a:t>Path validation measured the new path to within 0.2% of ground truth — and the stack discarded it, while its congestion controller believed a 3× wrong value carried over from the old path.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C72B0"/>
                </a:solidFill>
              </a:rPr>
              <a:t>BLOCK C/D · THE 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A1A1A"/>
                </a:solidFill>
              </a:rPr>
              <a:t>The headline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</a:rPr>
              <a:t>What path validation measured on the new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48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55A868"/>
                </a:solidFill>
              </a:rPr>
              <a:t>60.1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0720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</a:rPr>
              <a:t>Ground truth (configured)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80720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55A868"/>
                </a:solidFill>
              </a:rPr>
              <a:t>60.0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65576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</a:rPr>
              <a:t>Error of the discarded measurement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46557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55A868"/>
                </a:solidFill>
              </a:rPr>
              <a:t>0.2 %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23944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</a:rPr>
              <a:t>What the congestion controller believed instead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12394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C44E52"/>
                </a:solidFill>
              </a:rPr>
              <a:t>20.1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8231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</a:rPr>
              <a:t>Peak error of the estimator while relearning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78231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C44E52"/>
                </a:solidFill>
              </a:rPr>
              <a:t>1696 ms  (28× truth)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60719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4C72B0"/>
                </a:solidFill>
              </a:rPr>
              <a:t>The clean measurement is not hypothetical, not expensive, and not new work — the protocol is already required to perform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C72B0"/>
                </a:solidFill>
              </a:rPr>
              <a:t>HONEST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A1A1A"/>
                </a:solidFill>
              </a:rPr>
              <a:t>What went wrong, and what it taught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C44E52"/>
                </a:solidFill>
              </a:rPr>
              <a:t>Our first spec-compliant reset made things WORSE — transfers stopped completing entirely.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</a:rPr>
              <a:t>Cause: we implemented §9.4's second paragraph (reset to initial values) and missed its first — “Packets sent on the old path MUST NOT contribute to congestion control or RTT estimation for the new path.”</a:t>
            </a:r>
          </a:p>
          <a:p>
            <a:pPr algn="l">
              <a:spcAft>
                <a:spcPts val="1600"/>
              </a:spcAft>
            </a:pPr>
            <a:r>
              <a:rPr sz="1600" b="0">
                <a:solidFill>
                  <a:srgbClr val="1A1A1A"/>
                </a:solidFill>
              </a:rPr>
              <a:t>Clearing the estimator let the very next in-flight OLD-path ACK re-seed it: 1.8 ms after resetting, smoothed_rtt read 20.3 ms on a path whose true RTT is 60 ms. Slow start then paced 3× too fast and destroyed the connection.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1A1A1A"/>
                </a:solidFill>
              </a:rPr>
              <a:t>Two things follow: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</a:rPr>
              <a:t>•  Partial §9.4 compliance is worse than none — a finding worth reporting in its own right.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C72B0"/>
                </a:solidFill>
              </a:rPr>
              <a:t>•  It sharpens the motivation: after migration, EVERY ordinary RTT sample is polluted by in-flight old-path packets. The path-validation exchange is, by construction, the only clean one — sent on the new path, answered on the new path.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C72B0"/>
                </a:solidFill>
              </a:rPr>
              <a:t>THE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A1A1A"/>
                </a:solidFill>
              </a:rPr>
              <a:t>What Phase 2 builds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A5A5A"/>
                </a:solidFill>
              </a:rPr>
              <a:t>PV-Seed — five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4C72B0"/>
                </a:solidFill>
              </a:rPr>
              <a:t>1.  PROBE</a:t>
            </a:r>
          </a:p>
          <a:p>
            <a:pPr algn="l">
              <a:spcAft>
                <a:spcPts val="1300"/>
              </a:spcAft>
            </a:pPr>
            <a:r>
              <a:rPr sz="1600" b="0">
                <a:solidFill>
                  <a:srgbClr val="1A1A1A"/>
                </a:solidFill>
              </a:rPr>
              <a:t>      send a short train of the padded challenges the protocol already sends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4C72B0"/>
                </a:solidFill>
              </a:rPr>
              <a:t>2.  MEASURE</a:t>
            </a:r>
          </a:p>
          <a:p>
            <a:pPr algn="l">
              <a:spcAft>
                <a:spcPts val="1300"/>
              </a:spcAft>
            </a:pPr>
            <a:r>
              <a:rPr sz="1600" b="0">
                <a:solidFill>
                  <a:srgbClr val="1A1A1A"/>
                </a:solidFill>
              </a:rPr>
              <a:t>      round-trip time gives the path's length; spacing between replies gives its width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4C72B0"/>
                </a:solidFill>
              </a:rPr>
              <a:t>3.  CHECK</a:t>
            </a:r>
          </a:p>
          <a:p>
            <a:pPr algn="l">
              <a:spcAft>
                <a:spcPts val="1300"/>
              </a:spcAft>
            </a:pPr>
            <a:r>
              <a:rPr sz="1600" b="0">
                <a:solidFill>
                  <a:srgbClr val="1A1A1A"/>
                </a:solidFill>
              </a:rPr>
              <a:t>      do the estimates agree? if they scatter, discard them and fall back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4C72B0"/>
                </a:solidFill>
              </a:rPr>
              <a:t>4.  SEED</a:t>
            </a:r>
          </a:p>
          <a:p>
            <a:pPr algn="l">
              <a:spcAft>
                <a:spcPts val="1300"/>
              </a:spcAft>
            </a:pPr>
            <a:r>
              <a:rPr sz="1600" b="0">
                <a:solidFill>
                  <a:srgbClr val="1A1A1A"/>
                </a:solidFill>
              </a:rPr>
              <a:t>      initialise the congestion controller from the measurement instead of from nothing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4C72B0"/>
                </a:solidFill>
              </a:rPr>
              <a:t>5.  WATCH</a:t>
            </a:r>
          </a:p>
          <a:p>
            <a:pPr algn="l">
              <a:spcAft>
                <a:spcPts val="1300"/>
              </a:spcAft>
            </a:pPr>
            <a:r>
              <a:rPr sz="1600" b="0">
                <a:solidFill>
                  <a:srgbClr val="1A1A1A"/>
                </a:solidFill>
              </a:rPr>
              <a:t>      send paced, and retreat to the specification's behaviour at the first sign of trouble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55A868"/>
                </a:solidFill>
              </a:rPr>
              <a:t>Follow the fallbacks down and you land exactly on what the RFC already demands. The worst case of PV-Seed is the status quo.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0">
                <a:solidFill>
                  <a:srgbClr val="5A5A5A"/>
                </a:solidFill>
              </a:rPr>
              <a:t>picoquic already contains a live congestion-window seeding pathway (used by Careful Resume). We re-source it from measurement rather than memory — we are not adding new plumbing.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C72B0"/>
                </a:solidFill>
              </a:rPr>
              <a:t>THE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A1A1A"/>
                </a:solidFill>
              </a:rPr>
              <a:t>What could still sink this, and how we would know 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>
                <a:solidFill>
                  <a:srgbClr val="1A1A1A"/>
                </a:solidFill>
              </a:rPr>
              <a:t>•  The reflected reply train may only reveal the NARROWER direction of the path</a:t>
            </a:r>
          </a:p>
          <a:p>
            <a:pPr algn="l">
              <a:spcAft>
                <a:spcPts val="1300"/>
              </a:spcAft>
            </a:pPr>
            <a:r>
              <a:rPr sz="1550" b="0">
                <a:solidFill>
                  <a:srgbClr val="5A5A5A"/>
                </a:solidFill>
              </a:rPr>
              <a:t>     → proved analytically; drives a one-frame extension for the download case</a:t>
            </a:r>
          </a:p>
          <a:p>
            <a:pPr algn="l">
              <a:spcAft>
                <a:spcPts val="300"/>
              </a:spcAft>
            </a:pPr>
            <a:r>
              <a:rPr sz="1650" b="1">
                <a:solidFill>
                  <a:srgbClr val="1A1A1A"/>
                </a:solidFill>
              </a:rPr>
              <a:t>•  Receiver batching may destroy the reply spacing we measure</a:t>
            </a:r>
          </a:p>
          <a:p>
            <a:pPr algn="l">
              <a:spcAft>
                <a:spcPts val="1300"/>
              </a:spcAft>
            </a:pPr>
            <a:r>
              <a:rPr sz="1550" b="0">
                <a:solidFill>
                  <a:srgbClr val="5A5A5A"/>
                </a:solidFill>
              </a:rPr>
              <a:t>     → dedicated experiment; a negative result here is publishable and motivates the extension</a:t>
            </a:r>
          </a:p>
          <a:p>
            <a:pPr algn="l">
              <a:spcAft>
                <a:spcPts val="300"/>
              </a:spcAft>
            </a:pPr>
            <a:r>
              <a:rPr sz="1650" b="1">
                <a:solidFill>
                  <a:srgbClr val="1A1A1A"/>
                </a:solidFill>
              </a:rPr>
              <a:t>•  Anti-amplification limits how many probes a server may send</a:t>
            </a:r>
          </a:p>
          <a:p>
            <a:pPr algn="l">
              <a:spcAft>
                <a:spcPts val="1300"/>
              </a:spcAft>
            </a:pPr>
            <a:r>
              <a:rPr sz="1550" b="0">
                <a:solidFill>
                  <a:srgbClr val="5A5A5A"/>
                </a:solidFill>
              </a:rPr>
              <a:t>     → K ≥ 8 needs client-side priming — Phase 0 already made this mandatory, not optional</a:t>
            </a:r>
          </a:p>
          <a:p>
            <a:pPr algn="l">
              <a:spcAft>
                <a:spcPts val="300"/>
              </a:spcAft>
            </a:pPr>
            <a:r>
              <a:rPr sz="1650" b="1">
                <a:solidFill>
                  <a:srgbClr val="1A1A1A"/>
                </a:solidFill>
              </a:rPr>
              <a:t>•  The benefit may be small for short transfers or low-bandwidth paths</a:t>
            </a:r>
          </a:p>
          <a:p>
            <a:pPr algn="l">
              <a:spcAft>
                <a:spcPts val="1300"/>
              </a:spcAft>
            </a:pPr>
            <a:r>
              <a:rPr sz="1550" b="0">
                <a:solidFill>
                  <a:srgbClr val="5A5A5A"/>
                </a:solidFill>
              </a:rPr>
              <a:t>     → we will state the regime where it matters, and the regime where it does not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</a:rPr>
              <a:t>Kill criterion: if the estimator cannot reach usable accuracy on clean emulated links, we pivot to a measurement paper and keep every hour invested.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C72B0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A1A1A"/>
                </a:solidFill>
              </a:rPr>
              <a:t>Phase 1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55A868"/>
                </a:solidFill>
              </a:rPr>
              <a:t>✓  The gap exists on paper</a:t>
            </a:r>
          </a:p>
          <a:p>
            <a:pPr algn="l">
              <a:spcAft>
                <a:spcPts val="1500"/>
              </a:spcAft>
            </a:pPr>
            <a:r>
              <a:rPr sz="1550" b="0">
                <a:solidFill>
                  <a:srgbClr val="5A5A5A"/>
                </a:solidFill>
              </a:rPr>
              <a:t>     RFC 9000 §9.4 mandates the discard; Careful Resume explicitly refuses to help at a path change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55A868"/>
                </a:solidFill>
              </a:rPr>
              <a:t>✓  The gap exists in code</a:t>
            </a:r>
          </a:p>
          <a:p>
            <a:pPr algn="l">
              <a:spcAft>
                <a:spcPts val="1500"/>
              </a:spcAft>
            </a:pPr>
            <a:r>
              <a:rPr sz="1550" b="0">
                <a:solidFill>
                  <a:srgbClr val="5A5A5A"/>
                </a:solidFill>
              </a:rPr>
              <a:t>     picoquic does not implement the MUST — verified four ways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55A868"/>
                </a:solidFill>
              </a:rPr>
              <a:t>✓  The discarded measurement is accurate</a:t>
            </a:r>
          </a:p>
          <a:p>
            <a:pPr algn="l">
              <a:spcAft>
                <a:spcPts val="1500"/>
              </a:spcAft>
            </a:pPr>
            <a:r>
              <a:rPr sz="1550" b="0">
                <a:solidFill>
                  <a:srgbClr val="5A5A5A"/>
                </a:solidFill>
              </a:rPr>
              <a:t>     60.1 ms vs 60.0 ms ground truth — 0.2% error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55A868"/>
                </a:solidFill>
              </a:rPr>
              <a:t>✓  The controller's alternative is bad</a:t>
            </a:r>
          </a:p>
          <a:p>
            <a:pPr algn="l">
              <a:spcAft>
                <a:spcPts val="1500"/>
              </a:spcAft>
            </a:pPr>
            <a:r>
              <a:rPr sz="1550" b="0">
                <a:solidFill>
                  <a:srgbClr val="5A5A5A"/>
                </a:solidFill>
              </a:rPr>
              <a:t>     believed 20.1 ms; peaked at 28× the truth while relearning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4C72B0"/>
                </a:solidFill>
              </a:rPr>
              <a:t>Phase 2 begins: build the estimator, seed the controller, keep it safe.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