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1695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524E99-898F-5AAA-49D5-243B2D55CA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7CEEC90-95CC-CD16-E9F4-6767A30C96B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A93FB4-A5CA-4DCA-4262-7EEA2677501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BE5D60-F258-F04E-9BC3-4E70A40128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853FA83-3F06-1B98-040D-B331224C4B1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67BBFD8-50EE-5A31-8AFC-B68C24C0650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DD3C9A-C01F-8502-E233-4EF31DAA13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3B4928-B8BF-FC1B-96EA-2CB235DBCEC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162C9D3-91B2-0A9F-EEC9-EF4A23119A6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F38460-1F91-FBDC-D79E-97310D0ED94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5B2A1B-1950-B0C1-46A8-773C71BD74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91166F-CCD0-82D0-9623-5CE8C5F8AC7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922848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16567879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76496232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45880783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6305527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201798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750092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9924340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22578524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3180541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3000804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1667682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9458933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7180875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2846169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368326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8031448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13787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1941035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2313640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30666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5746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1444274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1424972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0876917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24258445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2622606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919908500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4538619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37288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35893907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10457487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06572008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15066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98139727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5301024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912530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54153559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0510574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5965296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40534564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4408860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1951832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01931142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71359722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6749906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60064508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238325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369534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9999408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2563193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36595161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9650802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2350787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8835883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6680871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49884581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298330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10070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0537346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8920295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31589545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460786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749847" name="TextBox 1"/>
          <p:cNvSpPr txBox="1"/>
          <p:nvPr/>
        </p:nvSpPr>
        <p:spPr bwMode="auto">
          <a:xfrm>
            <a:off x="822960" y="2331720"/>
            <a:ext cx="10607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/>
            </a:pPr>
            <a:r>
              <a:rPr sz="3200" b="1">
                <a:solidFill>
                  <a:srgbClr val="1A1A1A"/>
                </a:solidFill>
              </a:rPr>
              <a:t>What QUIC implementations actually do</a:t>
            </a:r>
            <a:endParaRPr/>
          </a:p>
          <a:p>
            <a:pPr algn="l">
              <a:spcAft>
                <a:spcPts val="1600"/>
              </a:spcAft>
              <a:defRPr/>
            </a:pPr>
            <a:r>
              <a:rPr sz="3200" b="1">
                <a:solidFill>
                  <a:srgbClr val="1A1A1A"/>
                </a:solidFill>
              </a:rPr>
              <a:t>when your phone changes network</a:t>
            </a:r>
            <a:endParaRPr/>
          </a:p>
          <a:p>
            <a:pPr algn="l">
              <a:spcAft>
                <a:spcPts val="1000"/>
              </a:spcAft>
              <a:defRPr/>
            </a:pPr>
            <a:r>
              <a:rPr sz="1700" b="0">
                <a:solidFill>
                  <a:srgbClr val="6A6A6A"/>
                </a:solidFill>
              </a:rPr>
              <a:t>Phase 1 review</a:t>
            </a:r>
            <a:endParaRPr/>
          </a:p>
        </p:txBody>
      </p:sp>
      <p:sp>
        <p:nvSpPr>
          <p:cNvPr id="2049121151" name="TextBox 2"/>
          <p:cNvSpPr txBox="1"/>
          <p:nvPr/>
        </p:nvSpPr>
        <p:spPr bwMode="auto">
          <a:xfrm>
            <a:off x="822960" y="5120640"/>
            <a:ext cx="10631879" cy="945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0"/>
              </a:spcAft>
              <a:defRPr/>
            </a:pPr>
            <a:r>
              <a:rPr sz="1400" b="0">
                <a:solidFill>
                  <a:srgbClr val="6A6A6A"/>
                </a:solidFill>
              </a:rPr>
              <a:t>Sivaa S Hari Charan </a:t>
            </a:r>
            <a:br>
              <a:rPr sz="1400" b="0">
                <a:solidFill>
                  <a:srgbClr val="6A6A6A"/>
                </a:solidFill>
              </a:rPr>
            </a:br>
            <a:r>
              <a:rPr sz="1400" b="0">
                <a:solidFill>
                  <a:srgbClr val="6A6A6A"/>
                </a:solidFill>
              </a:rPr>
              <a:t>J Kenin Franson</a:t>
            </a:r>
            <a:br>
              <a:rPr sz="1400" b="0">
                <a:solidFill>
                  <a:srgbClr val="6A6A6A"/>
                </a:solidFill>
              </a:rPr>
            </a:br>
            <a:r>
              <a:rPr sz="1400" b="0">
                <a:solidFill>
                  <a:srgbClr val="6A6A6A"/>
                </a:solidFill>
              </a:rPr>
              <a:t>Krithikk T</a:t>
            </a:r>
            <a:br>
              <a:rPr sz="1400" b="0">
                <a:solidFill>
                  <a:srgbClr val="6A6A6A"/>
                </a:solidFill>
              </a:rPr>
            </a:br>
            <a:r>
              <a:rPr sz="1400" b="0">
                <a:solidFill>
                  <a:srgbClr val="6A6A6A"/>
                </a:solidFill>
              </a:rPr>
              <a:t>Shafeeq Umar</a:t>
            </a:r>
            <a:endParaRPr sz="1400" b="0">
              <a:solidFill>
                <a:srgbClr val="6A6A6A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088493" name="TextBox 1"/>
          <p:cNvSpPr txBox="1"/>
          <p:nvPr/>
        </p:nvSpPr>
        <p:spPr bwMode="auto">
          <a:xfrm>
            <a:off x="68580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/>
            </a:pPr>
            <a:r>
              <a:rPr sz="1250" b="1">
                <a:solidFill>
                  <a:srgbClr val="4C72B0"/>
                </a:solidFill>
              </a:rPr>
              <a:t>THE SETTING</a:t>
            </a:r>
            <a:endParaRPr/>
          </a:p>
        </p:txBody>
      </p:sp>
      <p:sp>
        <p:nvSpPr>
          <p:cNvPr id="1093720676" name="TextBox 2"/>
          <p:cNvSpPr txBox="1"/>
          <p:nvPr/>
        </p:nvSpPr>
        <p:spPr bwMode="auto">
          <a:xfrm>
            <a:off x="685800" y="1087428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/>
            </a:pPr>
            <a:r>
              <a:rPr sz="2700" b="1">
                <a:solidFill>
                  <a:srgbClr val="1A1A1A"/>
                </a:solidFill>
              </a:rPr>
              <a:t>When you walk out of your house, your connection has to relearn how fast the network is.</a:t>
            </a:r>
            <a:endParaRPr/>
          </a:p>
        </p:txBody>
      </p:sp>
      <p:sp>
        <p:nvSpPr>
          <p:cNvPr id="1007159073" name="TextBox 3"/>
          <p:cNvSpPr txBox="1"/>
          <p:nvPr/>
        </p:nvSpPr>
        <p:spPr bwMode="auto">
          <a:xfrm flipH="0" flipV="0">
            <a:off x="777240" y="2544989"/>
            <a:ext cx="10790640" cy="2047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0"/>
              </a:spcAft>
              <a:defRPr/>
            </a:pPr>
            <a:r>
              <a:rPr sz="1900" b="0">
                <a:solidFill>
                  <a:srgbClr val="1A1A1A"/>
                </a:solidFill>
              </a:rPr>
              <a:t>QUIC keeps the connection alive when your phone switches from Wi-Fi to mobile data. That part works — it identifies you by an ID, not by your address.</a:t>
            </a:r>
            <a:endParaRPr/>
          </a:p>
          <a:p>
            <a:pPr algn="l">
              <a:spcAft>
                <a:spcPts val="2000"/>
              </a:spcAft>
              <a:defRPr/>
            </a:pPr>
            <a:r>
              <a:rPr sz="1900" b="0">
                <a:solidFill>
                  <a:srgbClr val="1A1A1A"/>
                </a:solidFill>
              </a:rPr>
              <a:t>But it still has to work out how fast to send on the new network. It cannot see the road. So it starts slow and speeds up until something breaks.</a:t>
            </a:r>
            <a:endParaRPr/>
          </a:p>
          <a:p>
            <a:pPr algn="l">
              <a:spcAft>
                <a:spcPts val="1000"/>
              </a:spcAft>
              <a:defRPr/>
            </a:pPr>
            <a:r>
              <a:rPr sz="1900" b="1">
                <a:solidFill>
                  <a:srgbClr val="4C72B0"/>
                </a:solidFill>
              </a:rPr>
              <a:t>That relearning is what you feel as a stall.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1630330" name="TextBox 1"/>
          <p:cNvSpPr txBox="1"/>
          <p:nvPr/>
        </p:nvSpPr>
        <p:spPr bwMode="auto">
          <a:xfrm>
            <a:off x="68580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/>
            </a:pPr>
            <a:r>
              <a:rPr sz="1250" b="1">
                <a:solidFill>
                  <a:srgbClr val="4C72B0"/>
                </a:solidFill>
              </a:rPr>
              <a:t>THE RULE</a:t>
            </a:r>
            <a:endParaRPr/>
          </a:p>
        </p:txBody>
      </p:sp>
      <p:sp>
        <p:nvSpPr>
          <p:cNvPr id="1459215115" name="TextBox 2"/>
          <p:cNvSpPr txBox="1"/>
          <p:nvPr/>
        </p:nvSpPr>
        <p:spPr bwMode="auto">
          <a:xfrm>
            <a:off x="685800" y="1132785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/>
            </a:pPr>
            <a:r>
              <a:rPr sz="2700" b="1">
                <a:solidFill>
                  <a:srgbClr val="1A1A1A"/>
                </a:solidFill>
              </a:rPr>
              <a:t>The rulebook is explicit about what should happen.</a:t>
            </a:r>
            <a:endParaRPr/>
          </a:p>
        </p:txBody>
      </p:sp>
      <p:sp>
        <p:nvSpPr>
          <p:cNvPr id="1804319646" name="TextBox 3"/>
          <p:cNvSpPr txBox="1"/>
          <p:nvPr/>
        </p:nvSpPr>
        <p:spPr bwMode="auto">
          <a:xfrm flipH="0" flipV="0">
            <a:off x="867960" y="2356029"/>
            <a:ext cx="10424880" cy="73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/>
            </a:pPr>
            <a:r>
              <a:rPr sz="2100" b="1">
                <a:solidFill>
                  <a:srgbClr val="4C72B0"/>
                </a:solidFill>
              </a:rPr>
              <a:t>“…an endpoint MUST immediately reset the congestion controller and round-trip time estimator for the new path to initial values.”</a:t>
            </a:r>
            <a:endParaRPr/>
          </a:p>
        </p:txBody>
      </p:sp>
      <p:sp>
        <p:nvSpPr>
          <p:cNvPr id="538093271" name="TextBox 4"/>
          <p:cNvSpPr txBox="1"/>
          <p:nvPr/>
        </p:nvSpPr>
        <p:spPr bwMode="auto">
          <a:xfrm>
            <a:off x="868680" y="3840480"/>
            <a:ext cx="10424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  <a:defRPr/>
            </a:pPr>
            <a:r>
              <a:rPr sz="1900" b="0">
                <a:solidFill>
                  <a:srgbClr val="1A1A1A"/>
                </a:solidFill>
              </a:rPr>
              <a:t>In plain terms: forget how fast the old network was. Start over.</a:t>
            </a:r>
            <a:endParaRPr/>
          </a:p>
          <a:p>
            <a:pPr algn="l">
              <a:spcAft>
                <a:spcPts val="1000"/>
              </a:spcAft>
              <a:defRPr/>
            </a:pPr>
            <a:r>
              <a:rPr sz="1900" b="1">
                <a:solidFill>
                  <a:srgbClr val="1A1A1A"/>
                </a:solidFill>
              </a:rPr>
              <a:t>MUST — not “should”, not “may”. This is the strongest word the standard has.</a:t>
            </a:r>
            <a:endParaRPr/>
          </a:p>
        </p:txBody>
      </p:sp>
      <p:sp>
        <p:nvSpPr>
          <p:cNvPr id="1556149196" name="TextBox 5"/>
          <p:cNvSpPr txBox="1"/>
          <p:nvPr/>
        </p:nvSpPr>
        <p:spPr bwMode="auto">
          <a:xfrm>
            <a:off x="685800" y="62910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/>
            </a:pPr>
            <a:r>
              <a:rPr sz="1050" b="0">
                <a:solidFill>
                  <a:srgbClr val="6A6A6A"/>
                </a:solidFill>
              </a:rPr>
              <a:t>RFC 9000 §9.4 — quoted verbatim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3012602" name="TextBox 1"/>
          <p:cNvSpPr txBox="1"/>
          <p:nvPr/>
        </p:nvSpPr>
        <p:spPr bwMode="auto">
          <a:xfrm>
            <a:off x="68580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/>
            </a:pPr>
            <a:r>
              <a:rPr sz="1250" b="1">
                <a:solidFill>
                  <a:srgbClr val="4C72B0"/>
                </a:solidFill>
              </a:rPr>
              <a:t>WHAT WE FOUND · 1</a:t>
            </a:r>
            <a:endParaRPr/>
          </a:p>
        </p:txBody>
      </p:sp>
      <p:sp>
        <p:nvSpPr>
          <p:cNvPr id="1818305909" name="TextBox 2"/>
          <p:cNvSpPr txBox="1"/>
          <p:nvPr/>
        </p:nvSpPr>
        <p:spPr bwMode="auto">
          <a:xfrm>
            <a:off x="685800" y="713232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/>
            </a:pPr>
            <a:r>
              <a:rPr sz="2700" b="1">
                <a:solidFill>
                  <a:srgbClr val="1A1A1A"/>
                </a:solidFill>
              </a:rPr>
              <a:t>We checked a widely-used implementation. It doesn't do this.</a:t>
            </a:r>
            <a:endParaRPr/>
          </a:p>
        </p:txBody>
      </p:sp>
      <p:pic>
        <p:nvPicPr>
          <p:cNvPr id="748077447" name="Picture 3" descr="v2_figA_spec_vs_cod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759080" y="1367191"/>
            <a:ext cx="8345037" cy="4642629"/>
          </a:xfrm>
          <a:prstGeom prst="rect">
            <a:avLst/>
          </a:prstGeom>
        </p:spPr>
      </p:pic>
      <p:sp>
        <p:nvSpPr>
          <p:cNvPr id="1529756583" name="TextBox 4"/>
          <p:cNvSpPr txBox="1"/>
          <p:nvPr/>
        </p:nvSpPr>
        <p:spPr bwMode="auto">
          <a:xfrm>
            <a:off x="685800" y="62910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/>
            </a:pPr>
            <a:r>
              <a:rPr sz="1050" b="0">
                <a:solidFill>
                  <a:srgbClr val="6A6A6A"/>
                </a:solidFill>
              </a:rPr>
              <a:t>picoquic — a reference QUIC implementation, 548 of its own tests passing. Verified four independent ways: the reset function exists in seven congestion-control algorithms and is called by none of them.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7342096" name="TextBox 1"/>
          <p:cNvSpPr txBox="1"/>
          <p:nvPr/>
        </p:nvSpPr>
        <p:spPr bwMode="auto">
          <a:xfrm>
            <a:off x="68580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/>
            </a:pPr>
            <a:r>
              <a:rPr sz="1250" b="1">
                <a:solidFill>
                  <a:srgbClr val="4C72B0"/>
                </a:solidFill>
              </a:rPr>
              <a:t>WHAT WE FOUND · 2</a:t>
            </a:r>
            <a:endParaRPr/>
          </a:p>
        </p:txBody>
      </p:sp>
      <p:sp>
        <p:nvSpPr>
          <p:cNvPr id="66307098" name="TextBox 2"/>
          <p:cNvSpPr txBox="1"/>
          <p:nvPr/>
        </p:nvSpPr>
        <p:spPr bwMode="auto">
          <a:xfrm>
            <a:off x="685800" y="713232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/>
            </a:pPr>
            <a:r>
              <a:rPr sz="2700" b="1">
                <a:solidFill>
                  <a:srgbClr val="1A1A1A"/>
                </a:solidFill>
              </a:rPr>
              <a:t>So we implemented the rule ourselves — and the connection stopped working.</a:t>
            </a:r>
            <a:endParaRPr/>
          </a:p>
        </p:txBody>
      </p:sp>
      <p:pic>
        <p:nvPicPr>
          <p:cNvPr id="1761294944" name="Picture 3" descr="v2_figB_compliance_broke_it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417509" y="1621517"/>
            <a:ext cx="8472612" cy="4308928"/>
          </a:xfrm>
          <a:prstGeom prst="rect">
            <a:avLst/>
          </a:prstGeom>
        </p:spPr>
      </p:pic>
      <p:sp>
        <p:nvSpPr>
          <p:cNvPr id="163933873" name="TextBox 4"/>
          <p:cNvSpPr txBox="1"/>
          <p:nvPr/>
        </p:nvSpPr>
        <p:spPr bwMode="auto">
          <a:xfrm>
            <a:off x="685800" y="62910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/>
            </a:pPr>
            <a:r>
              <a:rPr sz="1050" b="0">
                <a:solidFill>
                  <a:srgbClr val="6A6A6A"/>
                </a:solidFill>
              </a:rPr>
              <a:t>Same testbed, same file, same network settings. The only change was following the rule.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0395754" name="TextBox 1"/>
          <p:cNvSpPr txBox="1"/>
          <p:nvPr/>
        </p:nvSpPr>
        <p:spPr bwMode="auto">
          <a:xfrm>
            <a:off x="68580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/>
            </a:pPr>
            <a:r>
              <a:rPr sz="1250" b="1">
                <a:solidFill>
                  <a:srgbClr val="4C72B0"/>
                </a:solidFill>
              </a:rPr>
              <a:t>WHY IT BROKE</a:t>
            </a:r>
            <a:endParaRPr/>
          </a:p>
        </p:txBody>
      </p:sp>
      <p:sp>
        <p:nvSpPr>
          <p:cNvPr id="809674157" name="TextBox 2"/>
          <p:cNvSpPr txBox="1"/>
          <p:nvPr/>
        </p:nvSpPr>
        <p:spPr bwMode="auto">
          <a:xfrm>
            <a:off x="685800" y="713232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/>
            </a:pPr>
            <a:r>
              <a:rPr sz="2700" b="1">
                <a:solidFill>
                  <a:srgbClr val="1A1A1A"/>
                </a:solidFill>
              </a:rPr>
              <a:t>Because the rule has two halves, and we had only followed one.</a:t>
            </a:r>
            <a:endParaRPr/>
          </a:p>
        </p:txBody>
      </p:sp>
      <p:pic>
        <p:nvPicPr>
          <p:cNvPr id="1285821695" name="Picture 3" descr="v2_figC_two_rules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14400" y="1363526"/>
            <a:ext cx="10424160" cy="4696975"/>
          </a:xfrm>
          <a:prstGeom prst="rect">
            <a:avLst/>
          </a:prstGeom>
        </p:spPr>
      </p:pic>
      <p:sp>
        <p:nvSpPr>
          <p:cNvPr id="821729511" name="TextBox 4"/>
          <p:cNvSpPr txBox="1"/>
          <p:nvPr/>
        </p:nvSpPr>
        <p:spPr bwMode="auto">
          <a:xfrm>
            <a:off x="685800" y="62910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/>
            </a:pPr>
            <a:r>
              <a:rPr sz="1050" b="0">
                <a:solidFill>
                  <a:srgbClr val="6A6A6A"/>
                </a:solidFill>
              </a:rPr>
              <a:t>This is the finding: following the rule PARTLY is worse than ignoring it entirely.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9179904" name="TextBox 1"/>
          <p:cNvSpPr txBox="1"/>
          <p:nvPr/>
        </p:nvSpPr>
        <p:spPr bwMode="auto">
          <a:xfrm>
            <a:off x="68580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/>
            </a:pPr>
            <a:r>
              <a:rPr sz="1250" b="1">
                <a:solidFill>
                  <a:srgbClr val="4C72B0"/>
                </a:solidFill>
              </a:rPr>
              <a:t>THE GAP</a:t>
            </a:r>
            <a:endParaRPr/>
          </a:p>
        </p:txBody>
      </p:sp>
      <p:sp>
        <p:nvSpPr>
          <p:cNvPr id="588884203" name="TextBox 2"/>
          <p:cNvSpPr txBox="1"/>
          <p:nvPr/>
        </p:nvSpPr>
        <p:spPr bwMode="auto">
          <a:xfrm>
            <a:off x="685800" y="713232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/>
            </a:pPr>
            <a:r>
              <a:rPr sz="2700" b="1">
                <a:solidFill>
                  <a:srgbClr val="1A1A1A"/>
                </a:solidFill>
              </a:rPr>
              <a:t>Which raises the question nobody has answered.</a:t>
            </a:r>
            <a:endParaRPr/>
          </a:p>
        </p:txBody>
      </p:sp>
      <p:pic>
        <p:nvPicPr>
          <p:cNvPr id="183151482" name="Picture 3" descr="v2_figD_the_question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31421" y="1193292"/>
            <a:ext cx="9418320" cy="4978254"/>
          </a:xfrm>
          <a:prstGeom prst="rect">
            <a:avLst/>
          </a:prstGeom>
        </p:spPr>
      </p:pic>
      <p:sp>
        <p:nvSpPr>
          <p:cNvPr id="1659836733" name="TextBox 4"/>
          <p:cNvSpPr txBox="1"/>
          <p:nvPr/>
        </p:nvSpPr>
        <p:spPr bwMode="auto">
          <a:xfrm>
            <a:off x="685800" y="62910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/>
            </a:pPr>
            <a:r>
              <a:rPr sz="1050" b="0">
                <a:solidFill>
                  <a:srgbClr val="6A6A6A"/>
                </a:solidFill>
              </a:rPr>
              <a:t>A 2025 study measured whether servers SUPPORT migration at all. Nobody has measured what they DO to congestion control once they accept one.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9019054" name="TextBox 1"/>
          <p:cNvSpPr txBox="1"/>
          <p:nvPr/>
        </p:nvSpPr>
        <p:spPr bwMode="auto">
          <a:xfrm>
            <a:off x="68580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/>
            </a:pPr>
            <a:r>
              <a:rPr sz="1250" b="1">
                <a:solidFill>
                  <a:srgbClr val="4C72B0"/>
                </a:solidFill>
              </a:rPr>
              <a:t>WHAT WE PROPOSE</a:t>
            </a:r>
            <a:endParaRPr/>
          </a:p>
        </p:txBody>
      </p:sp>
      <p:sp>
        <p:nvSpPr>
          <p:cNvPr id="863218158" name="TextBox 2"/>
          <p:cNvSpPr txBox="1"/>
          <p:nvPr/>
        </p:nvSpPr>
        <p:spPr bwMode="auto">
          <a:xfrm>
            <a:off x="685800" y="1008053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/>
            </a:pPr>
            <a:r>
              <a:rPr sz="2700" b="1">
                <a:solidFill>
                  <a:srgbClr val="1A1A1A"/>
                </a:solidFill>
              </a:rPr>
              <a:t>That is the paper.</a:t>
            </a:r>
            <a:endParaRPr/>
          </a:p>
        </p:txBody>
      </p:sp>
      <p:sp>
        <p:nvSpPr>
          <p:cNvPr id="332234882" name="TextBox 3"/>
          <p:cNvSpPr txBox="1"/>
          <p:nvPr/>
        </p:nvSpPr>
        <p:spPr bwMode="auto">
          <a:xfrm flipH="0" flipV="0">
            <a:off x="777240" y="2204084"/>
            <a:ext cx="10790640" cy="2768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  <a:defRPr/>
            </a:pPr>
            <a:r>
              <a:rPr sz="1900" b="1">
                <a:solidFill>
                  <a:srgbClr val="1A1A1A"/>
                </a:solidFill>
              </a:rPr>
              <a:t>Take five QUIC implementations and answer three questions for each:</a:t>
            </a:r>
            <a:endParaRPr/>
          </a:p>
          <a:p>
            <a:pPr algn="l">
              <a:spcAft>
                <a:spcPts val="1200"/>
              </a:spcAft>
              <a:defRPr/>
            </a:pPr>
            <a:r>
              <a:rPr sz="1800" b="0">
                <a:solidFill>
                  <a:srgbClr val="1A1A1A"/>
                </a:solidFill>
              </a:rPr>
              <a:t>1.   Does it reset the speed estimate when the network changes, as required?</a:t>
            </a:r>
            <a:endParaRPr/>
          </a:p>
          <a:p>
            <a:pPr algn="l">
              <a:spcAft>
                <a:spcPts val="1200"/>
              </a:spcAft>
              <a:defRPr/>
            </a:pPr>
            <a:r>
              <a:rPr sz="1800" b="0">
                <a:solidFill>
                  <a:srgbClr val="1A1A1A"/>
                </a:solidFill>
              </a:rPr>
              <a:t>2.   Does it use the free measurement the protocol already takes of the new network?</a:t>
            </a:r>
            <a:endParaRPr/>
          </a:p>
          <a:p>
            <a:pPr algn="l">
              <a:spcAft>
                <a:spcPts val="2000"/>
              </a:spcAft>
              <a:defRPr/>
            </a:pPr>
            <a:r>
              <a:rPr sz="1800" b="0">
                <a:solidFill>
                  <a:srgbClr val="1A1A1A"/>
                </a:solidFill>
              </a:rPr>
              <a:t>3.   Does it correctly ignore leftover replies from the old network?</a:t>
            </a:r>
            <a:endParaRPr/>
          </a:p>
          <a:p>
            <a:pPr algn="l">
              <a:spcAft>
                <a:spcPts val="1800"/>
              </a:spcAft>
              <a:defRPr/>
            </a:pPr>
            <a:r>
              <a:rPr sz="1900" b="1">
                <a:solidFill>
                  <a:srgbClr val="1A1A1A"/>
                </a:solidFill>
              </a:rPr>
              <a:t>Then measure, in our testbed, what each choice costs.</a:t>
            </a:r>
            <a:endParaRPr/>
          </a:p>
          <a:p>
            <a:pPr algn="l">
              <a:spcAft>
                <a:spcPts val="1000"/>
              </a:spcAft>
              <a:defRPr/>
            </a:pPr>
            <a:r>
              <a:rPr sz="1700" b="0">
                <a:solidFill>
                  <a:srgbClr val="6A6A6A"/>
                </a:solidFill>
              </a:rPr>
              <a:t>We already have the testbed, the measurement tools, and the first implementation's answer.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272376" name="TextBox 1"/>
          <p:cNvSpPr txBox="1"/>
          <p:nvPr/>
        </p:nvSpPr>
        <p:spPr bwMode="auto">
          <a:xfrm>
            <a:off x="68580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/>
            </a:pPr>
            <a:r>
              <a:rPr sz="1250" b="1">
                <a:solidFill>
                  <a:srgbClr val="4C72B0"/>
                </a:solidFill>
              </a:rPr>
              <a:t>A LEAD FOR LATER</a:t>
            </a:r>
            <a:endParaRPr/>
          </a:p>
        </p:txBody>
      </p:sp>
      <p:sp>
        <p:nvSpPr>
          <p:cNvPr id="535025785" name="TextBox 2"/>
          <p:cNvSpPr txBox="1"/>
          <p:nvPr/>
        </p:nvSpPr>
        <p:spPr bwMode="auto">
          <a:xfrm flipH="0" flipV="0">
            <a:off x="685800" y="964872"/>
            <a:ext cx="10973520" cy="50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/>
            </a:pPr>
            <a:r>
              <a:rPr sz="2700" b="1">
                <a:solidFill>
                  <a:srgbClr val="1A1A1A"/>
                </a:solidFill>
              </a:rPr>
              <a:t>One more thing we noticed along the way.</a:t>
            </a:r>
            <a:endParaRPr/>
          </a:p>
        </p:txBody>
      </p:sp>
      <p:sp>
        <p:nvSpPr>
          <p:cNvPr id="1561501709" name="TextBox 3"/>
          <p:cNvSpPr txBox="1"/>
          <p:nvPr/>
        </p:nvSpPr>
        <p:spPr bwMode="auto">
          <a:xfrm flipH="0" flipV="0">
            <a:off x="777240" y="1965960"/>
            <a:ext cx="10790640" cy="2768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  <a:defRPr/>
            </a:pPr>
            <a:r>
              <a:rPr sz="1900" b="0">
                <a:solidFill>
                  <a:srgbClr val="1A1A1A"/>
                </a:solidFill>
              </a:rPr>
              <a:t>Before a connection trusts a new network, it must run a small security check — send a random number, get it echoed back.</a:t>
            </a:r>
            <a:endParaRPr/>
          </a:p>
          <a:p>
            <a:pPr algn="l">
              <a:spcAft>
                <a:spcPts val="1800"/>
              </a:spcAft>
              <a:defRPr/>
            </a:pPr>
            <a:r>
              <a:rPr sz="1900" b="0">
                <a:solidFill>
                  <a:srgbClr val="1A1A1A"/>
                </a:solidFill>
              </a:rPr>
              <a:t>That check is a round trip on the new network. It measures the network's speed for free.</a:t>
            </a:r>
            <a:endParaRPr/>
          </a:p>
          <a:p>
            <a:pPr algn="l">
              <a:spcAft>
                <a:spcPts val="2000"/>
              </a:spcAft>
              <a:defRPr/>
            </a:pPr>
            <a:r>
              <a:rPr sz="1900" b="1">
                <a:solidFill>
                  <a:srgbClr val="4C72B0"/>
                </a:solidFill>
              </a:rPr>
              <a:t>In our traces it measured the new network to within 0.2% of the true value — while the connection's own estimate was three times wrong.</a:t>
            </a:r>
            <a:endParaRPr/>
          </a:p>
          <a:p>
            <a:pPr algn="l">
              <a:spcAft>
                <a:spcPts val="1000"/>
              </a:spcAft>
              <a:defRPr/>
            </a:pPr>
            <a:r>
              <a:rPr sz="1700" b="0">
                <a:solidFill>
                  <a:srgbClr val="6A6A6A"/>
                </a:solidFill>
              </a:rPr>
              <a:t>The standard already allows using this for one purpose. Extending it further is a natural follow-on — but it is a section of the paper, not the paper.</a:t>
            </a:r>
            <a:endParaRPr/>
          </a:p>
        </p:txBody>
      </p:sp>
      <p:sp>
        <p:nvSpPr>
          <p:cNvPr id="1547855335" name="TextBox 4"/>
          <p:cNvSpPr txBox="1"/>
          <p:nvPr/>
        </p:nvSpPr>
        <p:spPr bwMode="auto">
          <a:xfrm>
            <a:off x="685800" y="62910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/>
            </a:pPr>
            <a:r>
              <a:rPr sz="1050" b="0">
                <a:solidFill>
                  <a:srgbClr val="6A6A6A"/>
                </a:solidFill>
              </a:rPr>
              <a:t>60.1 ms measured vs 60.0 ms ground truth, in the same trace where the connection believed 20.1 ms.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9796817" name="TextBox 1"/>
          <p:cNvSpPr txBox="1"/>
          <p:nvPr/>
        </p:nvSpPr>
        <p:spPr bwMode="auto">
          <a:xfrm>
            <a:off x="68580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/>
            </a:pPr>
            <a:r>
              <a:rPr sz="1250" b="1">
                <a:solidFill>
                  <a:srgbClr val="4C72B0"/>
                </a:solidFill>
              </a:rPr>
              <a:t>METHOD</a:t>
            </a:r>
            <a:endParaRPr/>
          </a:p>
        </p:txBody>
      </p:sp>
      <p:sp>
        <p:nvSpPr>
          <p:cNvPr id="1098684033" name="TextBox 2"/>
          <p:cNvSpPr txBox="1"/>
          <p:nvPr/>
        </p:nvSpPr>
        <p:spPr bwMode="auto">
          <a:xfrm flipH="0" flipV="0">
            <a:off x="685800" y="964872"/>
            <a:ext cx="10973520" cy="50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/>
            </a:pPr>
            <a:r>
              <a:rPr sz="2700" b="1">
                <a:solidFill>
                  <a:srgbClr val="1A1A1A"/>
                </a:solidFill>
              </a:rPr>
              <a:t>We checked our instruments before trusting them.</a:t>
            </a:r>
            <a:endParaRPr/>
          </a:p>
        </p:txBody>
      </p:sp>
      <p:pic>
        <p:nvPicPr>
          <p:cNvPr id="1954095891" name="Picture 3" descr="fig3_calibration_trap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39354" y="2158727"/>
            <a:ext cx="5394960" cy="2816562"/>
          </a:xfrm>
          <a:prstGeom prst="rect">
            <a:avLst/>
          </a:prstGeom>
        </p:spPr>
      </p:pic>
      <p:pic>
        <p:nvPicPr>
          <p:cNvPr id="2023253907" name="Picture 4" descr="fig4_train_length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264360" y="2158727"/>
            <a:ext cx="5394960" cy="2816563"/>
          </a:xfrm>
          <a:prstGeom prst="rect">
            <a:avLst/>
          </a:prstGeom>
        </p:spPr>
      </p:pic>
      <p:sp>
        <p:nvSpPr>
          <p:cNvPr id="1393277817" name="TextBox 5"/>
          <p:cNvSpPr txBox="1"/>
          <p:nvPr/>
        </p:nvSpPr>
        <p:spPr bwMode="auto">
          <a:xfrm>
            <a:off x="685800" y="62910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/>
            </a:pPr>
            <a:r>
              <a:rPr sz="1050" b="0">
                <a:solidFill>
                  <a:srgbClr val="6A6A6A"/>
                </a:solidFill>
              </a:rPr>
              <a:t>Two flaws in the emulator found and fixed before any measurement was taken. Left: a mis-set shaper lets test traffic through untouched, so you measure your own simulator. Right: short measurement bursts break without correction.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4571142" name="TextBox 1"/>
          <p:cNvSpPr txBox="1"/>
          <p:nvPr/>
        </p:nvSpPr>
        <p:spPr bwMode="auto">
          <a:xfrm>
            <a:off x="68580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/>
            </a:pPr>
            <a:r>
              <a:rPr sz="1250" b="1">
                <a:solidFill>
                  <a:srgbClr val="4C72B0"/>
                </a:solidFill>
              </a:rPr>
              <a:t>STATUS</a:t>
            </a:r>
            <a:endParaRPr/>
          </a:p>
        </p:txBody>
      </p:sp>
      <p:sp>
        <p:nvSpPr>
          <p:cNvPr id="469334014" name="TextBox 2"/>
          <p:cNvSpPr txBox="1"/>
          <p:nvPr/>
        </p:nvSpPr>
        <p:spPr bwMode="auto">
          <a:xfrm flipH="0" flipV="0">
            <a:off x="685800" y="894660"/>
            <a:ext cx="10973520" cy="50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/>
            </a:pPr>
            <a:r>
              <a:rPr sz="2700" b="1">
                <a:solidFill>
                  <a:srgbClr val="1A1A1A"/>
                </a:solidFill>
              </a:rPr>
              <a:t>Where we are.</a:t>
            </a:r>
            <a:endParaRPr/>
          </a:p>
        </p:txBody>
      </p:sp>
      <p:sp>
        <p:nvSpPr>
          <p:cNvPr id="1190580777" name="TextBox 3"/>
          <p:cNvSpPr txBox="1"/>
          <p:nvPr/>
        </p:nvSpPr>
        <p:spPr bwMode="auto">
          <a:xfrm flipH="0" flipV="0">
            <a:off x="777240" y="1874518"/>
            <a:ext cx="10790640" cy="3246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/>
            </a:pPr>
            <a:r>
              <a:rPr sz="1900" b="1">
                <a:solidFill>
                  <a:srgbClr val="55A868"/>
                </a:solidFill>
              </a:rPr>
              <a:t>✓   Testbed built, calibrated, and validated</a:t>
            </a:r>
            <a:endParaRPr/>
          </a:p>
          <a:p>
            <a:pPr algn="l">
              <a:spcAft>
                <a:spcPts val="1400"/>
              </a:spcAft>
              <a:defRPr/>
            </a:pPr>
            <a:r>
              <a:rPr sz="1900" b="1">
                <a:solidFill>
                  <a:srgbClr val="55A868"/>
                </a:solidFill>
              </a:rPr>
              <a:t>✓   First implementation surveyed — does not follow the rule</a:t>
            </a:r>
            <a:endParaRPr/>
          </a:p>
          <a:p>
            <a:pPr algn="l">
              <a:spcAft>
                <a:spcPts val="1400"/>
              </a:spcAft>
              <a:defRPr/>
            </a:pPr>
            <a:r>
              <a:rPr sz="1900" b="1">
                <a:solidFill>
                  <a:srgbClr val="55A868"/>
                </a:solidFill>
              </a:rPr>
              <a:t>✓   Discovered that partial compliance is worse than none</a:t>
            </a:r>
            <a:endParaRPr/>
          </a:p>
          <a:p>
            <a:pPr algn="l">
              <a:spcAft>
                <a:spcPts val="1400"/>
              </a:spcAft>
              <a:defRPr/>
            </a:pPr>
            <a:r>
              <a:rPr sz="1900" b="1">
                <a:solidFill>
                  <a:srgbClr val="55A868"/>
                </a:solidFill>
              </a:rPr>
              <a:t>✓   Measurement and analysis tooling complete</a:t>
            </a:r>
            <a:endParaRPr/>
          </a:p>
          <a:p>
            <a:pPr algn="l">
              <a:spcAft>
                <a:spcPts val="1400"/>
              </a:spcAft>
              <a:defRPr/>
            </a:pPr>
            <a:r>
              <a:rPr sz="1900" b="0">
                <a:solidFill>
                  <a:srgbClr val="6A6A6A"/>
                </a:solidFill>
              </a:rPr>
              <a:t>◦   Four more implementations to survey</a:t>
            </a:r>
            <a:endParaRPr/>
          </a:p>
          <a:p>
            <a:pPr algn="l">
              <a:spcAft>
                <a:spcPts val="1400"/>
              </a:spcAft>
              <a:defRPr/>
            </a:pPr>
            <a:r>
              <a:rPr sz="1900" b="0">
                <a:solidFill>
                  <a:srgbClr val="6A6A6A"/>
                </a:solidFill>
              </a:rPr>
              <a:t>◦   Cost of each behaviour to quantify</a:t>
            </a:r>
            <a:endParaRPr/>
          </a:p>
          <a:p>
            <a:pPr algn="l">
              <a:spcAft>
                <a:spcPts val="600"/>
              </a:spcAft>
              <a:defRPr/>
            </a:pPr>
            <a:r>
              <a:rPr sz="1700" b="1">
                <a:solidFill>
                  <a:srgbClr val="4C72B0"/>
                </a:solidFill>
              </a:rPr>
              <a:t>Nothing in this deck is projected. Every number is measured.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9789078" name="TextBox 1"/>
          <p:cNvSpPr txBox="1"/>
          <p:nvPr/>
        </p:nvSpPr>
        <p:spPr bwMode="auto">
          <a:xfrm>
            <a:off x="68580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/>
            </a:pPr>
            <a:r>
              <a:rPr sz="1250" b="1">
                <a:solidFill>
                  <a:srgbClr val="4C72B0"/>
                </a:solidFill>
              </a:rPr>
              <a:t>HONESTY</a:t>
            </a:r>
            <a:endParaRPr/>
          </a:p>
        </p:txBody>
      </p:sp>
      <p:sp>
        <p:nvSpPr>
          <p:cNvPr id="1310590488" name="TextBox 2"/>
          <p:cNvSpPr txBox="1"/>
          <p:nvPr/>
        </p:nvSpPr>
        <p:spPr bwMode="auto">
          <a:xfrm flipH="0" flipV="0">
            <a:off x="685080" y="908175"/>
            <a:ext cx="10973520" cy="50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/>
            </a:pPr>
            <a:r>
              <a:rPr sz="2700" b="1">
                <a:solidFill>
                  <a:srgbClr val="1A1A1A"/>
                </a:solidFill>
              </a:rPr>
              <a:t>What we are deliberately not claiming.</a:t>
            </a:r>
            <a:endParaRPr/>
          </a:p>
        </p:txBody>
      </p:sp>
      <p:sp>
        <p:nvSpPr>
          <p:cNvPr id="939388465" name="TextBox 3"/>
          <p:cNvSpPr txBox="1"/>
          <p:nvPr/>
        </p:nvSpPr>
        <p:spPr bwMode="auto">
          <a:xfrm>
            <a:off x="777240" y="196596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  <a:defRPr/>
            </a:pPr>
            <a:r>
              <a:rPr sz="1800" b="0">
                <a:solidFill>
                  <a:srgbClr val="1A1A1A"/>
                </a:solidFill>
              </a:rPr>
              <a:t>•   We have not shown that any particular fix is worth deploying.</a:t>
            </a:r>
            <a:endParaRPr/>
          </a:p>
          <a:p>
            <a:pPr algn="l">
              <a:spcAft>
                <a:spcPts val="1600"/>
              </a:spcAft>
              <a:defRPr/>
            </a:pPr>
            <a:r>
              <a:rPr sz="1800" b="0">
                <a:solidFill>
                  <a:srgbClr val="1A1A1A"/>
                </a:solidFill>
              </a:rPr>
              <a:t>•   We have not tested on real phones or real cellular networks — this is emulation.</a:t>
            </a:r>
            <a:endParaRPr/>
          </a:p>
          <a:p>
            <a:pPr algn="l">
              <a:spcAft>
                <a:spcPts val="1600"/>
              </a:spcAft>
              <a:defRPr/>
            </a:pPr>
            <a:r>
              <a:rPr sz="1800" b="0">
                <a:solidFill>
                  <a:srgbClr val="1A1A1A"/>
                </a:solidFill>
              </a:rPr>
              <a:t>•   Our own compliant implementation still fails in one scenario; one cause is diagnosed, a second is not.</a:t>
            </a:r>
            <a:endParaRPr/>
          </a:p>
          <a:p>
            <a:pPr algn="l">
              <a:spcAft>
                <a:spcPts val="1600"/>
              </a:spcAft>
              <a:defRPr/>
            </a:pPr>
            <a:r>
              <a:rPr sz="1800" b="0">
                <a:solidFill>
                  <a:srgbClr val="1A1A1A"/>
                </a:solidFill>
              </a:rPr>
              <a:t>•   One implementation is not a survey. Four more to go before we can generalise.</a:t>
            </a:r>
            <a:endParaRPr/>
          </a:p>
          <a:p>
            <a:pPr algn="l">
              <a:spcAft>
                <a:spcPts val="1000"/>
              </a:spcAft>
              <a:defRPr/>
            </a:pPr>
            <a:r>
              <a:rPr sz="1800" b="1">
                <a:solidFill>
                  <a:srgbClr val="4C72B0"/>
                </a:solidFill>
              </a:rPr>
              <a:t>We would rather state the limits than have a reviewer find them.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2</cp:revision>
  <dcterms:created xsi:type="dcterms:W3CDTF">2013-01-27T09:14:16Z</dcterms:created>
  <dcterms:modified xsi:type="dcterms:W3CDTF">2026-08-05T16:29:12Z</dcterms:modified>
  <cp:category/>
</cp:coreProperties>
</file>